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88" r:id="rId3"/>
    <p:sldId id="289" r:id="rId4"/>
    <p:sldId id="281" r:id="rId5"/>
    <p:sldId id="257" r:id="rId6"/>
    <p:sldId id="258" r:id="rId7"/>
    <p:sldId id="259" r:id="rId8"/>
    <p:sldId id="260" r:id="rId9"/>
    <p:sldId id="274" r:id="rId10"/>
    <p:sldId id="261" r:id="rId11"/>
    <p:sldId id="262" r:id="rId12"/>
    <p:sldId id="263" r:id="rId13"/>
    <p:sldId id="264" r:id="rId14"/>
    <p:sldId id="265" r:id="rId15"/>
    <p:sldId id="290" r:id="rId16"/>
    <p:sldId id="275" r:id="rId17"/>
    <p:sldId id="283" r:id="rId18"/>
    <p:sldId id="266" r:id="rId19"/>
    <p:sldId id="285" r:id="rId20"/>
    <p:sldId id="268" r:id="rId21"/>
    <p:sldId id="271" r:id="rId22"/>
    <p:sldId id="269" r:id="rId23"/>
    <p:sldId id="270" r:id="rId24"/>
    <p:sldId id="272" r:id="rId25"/>
    <p:sldId id="286" r:id="rId26"/>
    <p:sldId id="273" r:id="rId27"/>
    <p:sldId id="276" r:id="rId28"/>
    <p:sldId id="277" r:id="rId29"/>
    <p:sldId id="291" r:id="rId30"/>
    <p:sldId id="292" r:id="rId31"/>
    <p:sldId id="293" r:id="rId32"/>
    <p:sldId id="294" r:id="rId33"/>
    <p:sldId id="295" r:id="rId34"/>
    <p:sldId id="296" r:id="rId35"/>
    <p:sldId id="287" r:id="rId36"/>
    <p:sldId id="278" r:id="rId37"/>
    <p:sldId id="279" r:id="rId38"/>
  </p:sldIdLst>
  <p:sldSz cx="12192000" cy="6858000"/>
  <p:notesSz cx="6858000" cy="9144000"/>
  <p:custDataLst>
    <p:tags r:id="rId3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95D4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21"/>
    <p:restoredTop sz="94658"/>
  </p:normalViewPr>
  <p:slideViewPr>
    <p:cSldViewPr snapToGrid="0">
      <p:cViewPr varScale="1">
        <p:scale>
          <a:sx n="67" d="100"/>
          <a:sy n="67" d="100"/>
        </p:scale>
        <p:origin x="184" y="13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gs" Target="tags/tag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cxnSp>
        <p:nvCxnSpPr>
          <p:cNvPr id="10" name="Google Shape;10;p2"/>
          <p:cNvCxnSpPr/>
          <p:nvPr/>
        </p:nvCxnSpPr>
        <p:spPr>
          <a:xfrm>
            <a:off x="9343647" y="4235851"/>
            <a:ext cx="7496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2100047" y="4211003"/>
            <a:ext cx="7496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338859" y="1362700"/>
            <a:ext cx="9515557" cy="2032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338868" y="5292133"/>
            <a:ext cx="9515557" cy="2032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338867" y="2335685"/>
            <a:ext cx="9515600" cy="13632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7200"/>
            </a:lvl1pPr>
            <a:lvl2pPr lvl="1" algn="ctr">
              <a:spcBef>
                <a:spcPts val="0"/>
              </a:spcBef>
              <a:spcAft>
                <a:spcPts val="0"/>
              </a:spcAft>
              <a:buSzPts val="5400"/>
              <a:buNone/>
              <a:defRPr sz="7200"/>
            </a:lvl2pPr>
            <a:lvl3pPr lvl="2" algn="ctr">
              <a:spcBef>
                <a:spcPts val="0"/>
              </a:spcBef>
              <a:spcAft>
                <a:spcPts val="0"/>
              </a:spcAft>
              <a:buSzPts val="5400"/>
              <a:buNone/>
              <a:defRPr sz="7200"/>
            </a:lvl3pPr>
            <a:lvl4pPr lvl="3" algn="ctr">
              <a:spcBef>
                <a:spcPts val="0"/>
              </a:spcBef>
              <a:spcAft>
                <a:spcPts val="0"/>
              </a:spcAft>
              <a:buSzPts val="5400"/>
              <a:buNone/>
              <a:defRPr sz="7200"/>
            </a:lvl4pPr>
            <a:lvl5pPr lvl="4" algn="ctr">
              <a:spcBef>
                <a:spcPts val="0"/>
              </a:spcBef>
              <a:spcAft>
                <a:spcPts val="0"/>
              </a:spcAft>
              <a:buSzPts val="5400"/>
              <a:buNone/>
              <a:defRPr sz="7200"/>
            </a:lvl5pPr>
            <a:lvl6pPr lvl="5" algn="ctr">
              <a:spcBef>
                <a:spcPts val="0"/>
              </a:spcBef>
              <a:spcAft>
                <a:spcPts val="0"/>
              </a:spcAft>
              <a:buSzPts val="5400"/>
              <a:buNone/>
              <a:defRPr sz="7200"/>
            </a:lvl6pPr>
            <a:lvl7pPr lvl="6" algn="ctr">
              <a:spcBef>
                <a:spcPts val="0"/>
              </a:spcBef>
              <a:spcAft>
                <a:spcPts val="0"/>
              </a:spcAft>
              <a:buSzPts val="5400"/>
              <a:buNone/>
              <a:defRPr sz="7200"/>
            </a:lvl7pPr>
            <a:lvl8pPr lvl="7" algn="ctr">
              <a:spcBef>
                <a:spcPts val="0"/>
              </a:spcBef>
              <a:spcAft>
                <a:spcPts val="0"/>
              </a:spcAft>
              <a:buSzPts val="5400"/>
              <a:buNone/>
              <a:defRPr sz="7200"/>
            </a:lvl8pPr>
            <a:lvl9pPr lvl="8" algn="ctr">
              <a:spcBef>
                <a:spcPts val="0"/>
              </a:spcBef>
              <a:spcAft>
                <a:spcPts val="0"/>
              </a:spcAft>
              <a:buSzPts val="5400"/>
              <a:buNone/>
              <a:defRPr sz="7200"/>
            </a:lvl9pPr>
          </a:lstStyle>
          <a:p>
            <a:r>
              <a:rPr lang="en-US"/>
              <a:t>Click to edit Master title style</a:t>
            </a:r>
            <a:endParaRPr/>
          </a:p>
        </p:txBody>
      </p:sp>
      <p:sp>
        <p:nvSpPr>
          <p:cNvPr id="19" name="Google Shape;19;p2"/>
          <p:cNvSpPr txBox="1">
            <a:spLocks noGrp="1"/>
          </p:cNvSpPr>
          <p:nvPr>
            <p:ph type="subTitle" idx="1"/>
          </p:nvPr>
        </p:nvSpPr>
        <p:spPr>
          <a:xfrm>
            <a:off x="2849633" y="3800052"/>
            <a:ext cx="64940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3200"/>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r>
              <a:rPr lang="en-US"/>
              <a:t>Click to edit Master subtitle style</a:t>
            </a:r>
            <a:endParaRPr/>
          </a:p>
        </p:txBody>
      </p:sp>
      <p:sp>
        <p:nvSpPr>
          <p:cNvPr id="20" name="Google Shape;2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988079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26" name="Google Shape;26;p4"/>
          <p:cNvSpPr/>
          <p:nvPr/>
        </p:nvSpPr>
        <p:spPr>
          <a:xfrm>
            <a:off x="-100" y="6727600"/>
            <a:ext cx="12192000" cy="1304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 name="Google Shape;27;p4"/>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28" name="Google Shape;28;p4"/>
          <p:cNvSpPr txBox="1">
            <a:spLocks noGrp="1"/>
          </p:cNvSpPr>
          <p:nvPr>
            <p:ph type="body" idx="1"/>
          </p:nvPr>
        </p:nvSpPr>
        <p:spPr>
          <a:xfrm>
            <a:off x="415600" y="1688433"/>
            <a:ext cx="11360800" cy="44036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29" name="Google Shape;2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336181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32" name="Google Shape;32;p5"/>
          <p:cNvSpPr txBox="1">
            <a:spLocks noGrp="1"/>
          </p:cNvSpPr>
          <p:nvPr>
            <p:ph type="body" idx="1"/>
          </p:nvPr>
        </p:nvSpPr>
        <p:spPr>
          <a:xfrm>
            <a:off x="415600" y="1688233"/>
            <a:ext cx="5333200" cy="4403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33" name="Google Shape;33;p5"/>
          <p:cNvSpPr txBox="1">
            <a:spLocks noGrp="1"/>
          </p:cNvSpPr>
          <p:nvPr>
            <p:ph type="body" idx="2"/>
          </p:nvPr>
        </p:nvSpPr>
        <p:spPr>
          <a:xfrm>
            <a:off x="6443200" y="1688233"/>
            <a:ext cx="5333200" cy="44036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34" name="Google Shape;3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73290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r>
              <a:rPr lang="en-US"/>
              <a:t>Click to edit Master title style</a:t>
            </a:r>
            <a:endParaRPr/>
          </a:p>
        </p:txBody>
      </p:sp>
      <p:sp>
        <p:nvSpPr>
          <p:cNvPr id="37" name="Google Shape;3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4194287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a:p>
        </p:txBody>
      </p:sp>
      <p:sp>
        <p:nvSpPr>
          <p:cNvPr id="40" name="Google Shape;4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41" name="Google Shape;4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2843660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653667" y="701800"/>
            <a:ext cx="7484800" cy="5454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7200" b="0">
                <a:solidFill>
                  <a:schemeClr val="dk2"/>
                </a:solidFill>
              </a:defRPr>
            </a:lvl1pPr>
            <a:lvl2pPr lvl="1">
              <a:spcBef>
                <a:spcPts val="0"/>
              </a:spcBef>
              <a:spcAft>
                <a:spcPts val="0"/>
              </a:spcAft>
              <a:buClr>
                <a:schemeClr val="dk2"/>
              </a:buClr>
              <a:buSzPts val="5400"/>
              <a:buNone/>
              <a:defRPr sz="7200" b="0">
                <a:solidFill>
                  <a:schemeClr val="dk2"/>
                </a:solidFill>
              </a:defRPr>
            </a:lvl2pPr>
            <a:lvl3pPr lvl="2">
              <a:spcBef>
                <a:spcPts val="0"/>
              </a:spcBef>
              <a:spcAft>
                <a:spcPts val="0"/>
              </a:spcAft>
              <a:buClr>
                <a:schemeClr val="dk2"/>
              </a:buClr>
              <a:buSzPts val="5400"/>
              <a:buNone/>
              <a:defRPr sz="7200" b="0">
                <a:solidFill>
                  <a:schemeClr val="dk2"/>
                </a:solidFill>
              </a:defRPr>
            </a:lvl3pPr>
            <a:lvl4pPr lvl="3">
              <a:spcBef>
                <a:spcPts val="0"/>
              </a:spcBef>
              <a:spcAft>
                <a:spcPts val="0"/>
              </a:spcAft>
              <a:buClr>
                <a:schemeClr val="dk2"/>
              </a:buClr>
              <a:buSzPts val="5400"/>
              <a:buNone/>
              <a:defRPr sz="7200" b="0">
                <a:solidFill>
                  <a:schemeClr val="dk2"/>
                </a:solidFill>
              </a:defRPr>
            </a:lvl4pPr>
            <a:lvl5pPr lvl="4">
              <a:spcBef>
                <a:spcPts val="0"/>
              </a:spcBef>
              <a:spcAft>
                <a:spcPts val="0"/>
              </a:spcAft>
              <a:buClr>
                <a:schemeClr val="dk2"/>
              </a:buClr>
              <a:buSzPts val="5400"/>
              <a:buNone/>
              <a:defRPr sz="7200" b="0">
                <a:solidFill>
                  <a:schemeClr val="dk2"/>
                </a:solidFill>
              </a:defRPr>
            </a:lvl5pPr>
            <a:lvl6pPr lvl="5">
              <a:spcBef>
                <a:spcPts val="0"/>
              </a:spcBef>
              <a:spcAft>
                <a:spcPts val="0"/>
              </a:spcAft>
              <a:buClr>
                <a:schemeClr val="dk2"/>
              </a:buClr>
              <a:buSzPts val="5400"/>
              <a:buNone/>
              <a:defRPr sz="7200" b="0">
                <a:solidFill>
                  <a:schemeClr val="dk2"/>
                </a:solidFill>
              </a:defRPr>
            </a:lvl6pPr>
            <a:lvl7pPr lvl="6">
              <a:spcBef>
                <a:spcPts val="0"/>
              </a:spcBef>
              <a:spcAft>
                <a:spcPts val="0"/>
              </a:spcAft>
              <a:buClr>
                <a:schemeClr val="dk2"/>
              </a:buClr>
              <a:buSzPts val="5400"/>
              <a:buNone/>
              <a:defRPr sz="7200" b="0">
                <a:solidFill>
                  <a:schemeClr val="dk2"/>
                </a:solidFill>
              </a:defRPr>
            </a:lvl7pPr>
            <a:lvl8pPr lvl="7">
              <a:spcBef>
                <a:spcPts val="0"/>
              </a:spcBef>
              <a:spcAft>
                <a:spcPts val="0"/>
              </a:spcAft>
              <a:buClr>
                <a:schemeClr val="dk2"/>
              </a:buClr>
              <a:buSzPts val="5400"/>
              <a:buNone/>
              <a:defRPr sz="7200" b="0">
                <a:solidFill>
                  <a:schemeClr val="dk2"/>
                </a:solidFill>
              </a:defRPr>
            </a:lvl8pPr>
            <a:lvl9pPr lvl="8">
              <a:spcBef>
                <a:spcPts val="0"/>
              </a:spcBef>
              <a:spcAft>
                <a:spcPts val="0"/>
              </a:spcAft>
              <a:buClr>
                <a:schemeClr val="dk2"/>
              </a:buClr>
              <a:buSzPts val="5400"/>
              <a:buNone/>
              <a:defRPr sz="7200" b="0">
                <a:solidFill>
                  <a:schemeClr val="dk2"/>
                </a:solidFill>
              </a:defRPr>
            </a:lvl9pPr>
          </a:lstStyle>
          <a:p>
            <a:r>
              <a:rPr lang="en-US"/>
              <a:t>Click to edit Master title style</a:t>
            </a:r>
            <a:endParaRPr/>
          </a:p>
        </p:txBody>
      </p:sp>
      <p:sp>
        <p:nvSpPr>
          <p:cNvPr id="44" name="Google Shape;4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392105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5"/>
        <p:cNvGrpSpPr/>
        <p:nvPr/>
      </p:nvGrpSpPr>
      <p:grpSpPr>
        <a:xfrm>
          <a:off x="0" y="0"/>
          <a:ext cx="0" cy="0"/>
          <a:chOff x="0" y="0"/>
          <a:chExt cx="0" cy="0"/>
        </a:xfrm>
      </p:grpSpPr>
      <p:sp>
        <p:nvSpPr>
          <p:cNvPr id="46" name="Google Shape;46;p9"/>
          <p:cNvSpPr/>
          <p:nvPr/>
        </p:nvSpPr>
        <p:spPr>
          <a:xfrm>
            <a:off x="6096000" y="0"/>
            <a:ext cx="6096000" cy="6858000"/>
          </a:xfrm>
          <a:prstGeom prst="rect">
            <a:avLst/>
          </a:pr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cxnSp>
        <p:nvCxnSpPr>
          <p:cNvPr id="47" name="Google Shape;47;p9"/>
          <p:cNvCxnSpPr/>
          <p:nvPr/>
        </p:nvCxnSpPr>
        <p:spPr>
          <a:xfrm>
            <a:off x="6706233" y="5994000"/>
            <a:ext cx="6244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354000" y="1386233"/>
            <a:ext cx="5393600" cy="2234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49" name="Google Shape;49;p9"/>
          <p:cNvSpPr txBox="1">
            <a:spLocks noGrp="1"/>
          </p:cNvSpPr>
          <p:nvPr>
            <p:ph type="subTitle" idx="1"/>
          </p:nvPr>
        </p:nvSpPr>
        <p:spPr>
          <a:xfrm>
            <a:off x="354000" y="36358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50" name="Google Shape;50;p9"/>
          <p:cNvSpPr txBox="1">
            <a:spLocks noGrp="1"/>
          </p:cNvSpPr>
          <p:nvPr>
            <p:ph type="body" idx="2"/>
          </p:nvPr>
        </p:nvSpPr>
        <p:spPr>
          <a:xfrm>
            <a:off x="6586000" y="965600"/>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Clr>
                <a:schemeClr val="lt1"/>
              </a:buClr>
              <a:buSzPts val="1800"/>
              <a:buChar char="●"/>
              <a:defRPr>
                <a:solidFill>
                  <a:schemeClr val="lt1"/>
                </a:solidFill>
              </a:defRPr>
            </a:lvl1pPr>
            <a:lvl2pPr marL="1219170" lvl="1" indent="-423323">
              <a:spcBef>
                <a:spcPts val="0"/>
              </a:spcBef>
              <a:spcAft>
                <a:spcPts val="0"/>
              </a:spcAft>
              <a:buClr>
                <a:schemeClr val="lt1"/>
              </a:buClr>
              <a:buSzPts val="1400"/>
              <a:buChar char="○"/>
              <a:defRPr>
                <a:solidFill>
                  <a:schemeClr val="lt1"/>
                </a:solidFill>
              </a:defRPr>
            </a:lvl2pPr>
            <a:lvl3pPr marL="1828754" lvl="2" indent="-423323">
              <a:spcBef>
                <a:spcPts val="0"/>
              </a:spcBef>
              <a:spcAft>
                <a:spcPts val="0"/>
              </a:spcAft>
              <a:buClr>
                <a:schemeClr val="lt1"/>
              </a:buClr>
              <a:buSzPts val="1400"/>
              <a:buChar char="■"/>
              <a:defRPr>
                <a:solidFill>
                  <a:schemeClr val="lt1"/>
                </a:solidFill>
              </a:defRPr>
            </a:lvl3pPr>
            <a:lvl4pPr marL="2438339" lvl="3" indent="-423323">
              <a:spcBef>
                <a:spcPts val="0"/>
              </a:spcBef>
              <a:spcAft>
                <a:spcPts val="0"/>
              </a:spcAft>
              <a:buClr>
                <a:schemeClr val="lt1"/>
              </a:buClr>
              <a:buSzPts val="1400"/>
              <a:buChar char="●"/>
              <a:defRPr>
                <a:solidFill>
                  <a:schemeClr val="lt1"/>
                </a:solidFill>
              </a:defRPr>
            </a:lvl4pPr>
            <a:lvl5pPr marL="3047924" lvl="4" indent="-423323">
              <a:spcBef>
                <a:spcPts val="0"/>
              </a:spcBef>
              <a:spcAft>
                <a:spcPts val="0"/>
              </a:spcAft>
              <a:buClr>
                <a:schemeClr val="lt1"/>
              </a:buClr>
              <a:buSzPts val="1400"/>
              <a:buChar char="○"/>
              <a:defRPr>
                <a:solidFill>
                  <a:schemeClr val="lt1"/>
                </a:solidFill>
              </a:defRPr>
            </a:lvl5pPr>
            <a:lvl6pPr marL="3657509" lvl="5" indent="-423323">
              <a:spcBef>
                <a:spcPts val="0"/>
              </a:spcBef>
              <a:spcAft>
                <a:spcPts val="0"/>
              </a:spcAft>
              <a:buClr>
                <a:schemeClr val="lt1"/>
              </a:buClr>
              <a:buSzPts val="1400"/>
              <a:buChar char="■"/>
              <a:defRPr>
                <a:solidFill>
                  <a:schemeClr val="lt1"/>
                </a:solidFill>
              </a:defRPr>
            </a:lvl6pPr>
            <a:lvl7pPr marL="4267093" lvl="6" indent="-423323">
              <a:spcBef>
                <a:spcPts val="0"/>
              </a:spcBef>
              <a:spcAft>
                <a:spcPts val="0"/>
              </a:spcAft>
              <a:buClr>
                <a:schemeClr val="lt1"/>
              </a:buClr>
              <a:buSzPts val="1400"/>
              <a:buChar char="●"/>
              <a:defRPr>
                <a:solidFill>
                  <a:schemeClr val="lt1"/>
                </a:solidFill>
              </a:defRPr>
            </a:lvl7pPr>
            <a:lvl8pPr marL="4876678" lvl="7" indent="-423323">
              <a:spcBef>
                <a:spcPts val="0"/>
              </a:spcBef>
              <a:spcAft>
                <a:spcPts val="0"/>
              </a:spcAft>
              <a:buClr>
                <a:schemeClr val="lt1"/>
              </a:buClr>
              <a:buSzPts val="1400"/>
              <a:buChar char="○"/>
              <a:defRPr>
                <a:solidFill>
                  <a:schemeClr val="lt1"/>
                </a:solidFill>
              </a:defRPr>
            </a:lvl8pPr>
            <a:lvl9pPr marL="5486263" lvl="8" indent="-423323">
              <a:spcBef>
                <a:spcPts val="0"/>
              </a:spcBef>
              <a:spcAft>
                <a:spcPts val="0"/>
              </a:spcAft>
              <a:buClr>
                <a:schemeClr val="lt1"/>
              </a:buClr>
              <a:buSzPts val="1400"/>
              <a:buChar char="■"/>
              <a:defRPr>
                <a:solidFill>
                  <a:schemeClr val="lt1"/>
                </a:solidFill>
              </a:defRPr>
            </a:lvl9pPr>
          </a:lstStyle>
          <a:p>
            <a:pPr lvl="0"/>
            <a:r>
              <a:rPr lang="en-US"/>
              <a:t>Click to edit Master text styles</a:t>
            </a:r>
          </a:p>
        </p:txBody>
      </p:sp>
      <p:sp>
        <p:nvSpPr>
          <p:cNvPr id="51" name="Google Shape;51;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38429623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415600" y="5640967"/>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PT Sans Narrow"/>
                <a:ea typeface="PT Sans Narrow"/>
                <a:cs typeface="PT Sans Narrow"/>
                <a:sym typeface="PT Sans Narrow"/>
              </a:defRPr>
            </a:lvl1pPr>
          </a:lstStyle>
          <a:p>
            <a:pPr lvl="0"/>
            <a:r>
              <a:rPr lang="en-US"/>
              <a:t>Click to edit Master text styles</a:t>
            </a:r>
          </a:p>
        </p:txBody>
      </p:sp>
      <p:sp>
        <p:nvSpPr>
          <p:cNvPr id="54" name="Google Shape;54;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558947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5"/>
        <p:cNvGrpSpPr/>
        <p:nvPr/>
      </p:nvGrpSpPr>
      <p:grpSpPr>
        <a:xfrm>
          <a:off x="0" y="0"/>
          <a:ext cx="0" cy="0"/>
          <a:chOff x="0" y="0"/>
          <a:chExt cx="0" cy="0"/>
        </a:xfrm>
      </p:grpSpPr>
      <p:sp>
        <p:nvSpPr>
          <p:cNvPr id="56" name="Google Shape;56;p11"/>
          <p:cNvSpPr/>
          <p:nvPr/>
        </p:nvSpPr>
        <p:spPr>
          <a:xfrm>
            <a:off x="-100" y="6727600"/>
            <a:ext cx="12192000" cy="13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7" name="Google Shape;57;p11"/>
          <p:cNvSpPr txBox="1">
            <a:spLocks noGrp="1"/>
          </p:cNvSpPr>
          <p:nvPr>
            <p:ph type="title" hasCustomPrompt="1"/>
          </p:nvPr>
        </p:nvSpPr>
        <p:spPr>
          <a:xfrm>
            <a:off x="415600" y="1739800"/>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t>xx%</a:t>
            </a:r>
          </a:p>
        </p:txBody>
      </p:sp>
      <p:sp>
        <p:nvSpPr>
          <p:cNvPr id="58" name="Google Shape;58;p11"/>
          <p:cNvSpPr txBox="1">
            <a:spLocks noGrp="1"/>
          </p:cNvSpPr>
          <p:nvPr>
            <p:ph type="body" idx="1"/>
          </p:nvPr>
        </p:nvSpPr>
        <p:spPr>
          <a:xfrm>
            <a:off x="415600" y="3994200"/>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pPr lvl="0"/>
            <a:r>
              <a:rPr lang="en-US"/>
              <a:t>Click to edit Master text styles</a:t>
            </a:r>
          </a:p>
        </p:txBody>
      </p:sp>
      <p:sp>
        <p:nvSpPr>
          <p:cNvPr id="59" name="Google Shape;59;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2062951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6FC4FE-40E8-EBF6-F6E8-EDF2A1317243}"/>
              </a:ext>
            </a:extLst>
          </p:cNvPr>
          <p:cNvSpPr>
            <a:spLocks noGrp="1"/>
          </p:cNvSpPr>
          <p:nvPr>
            <p:ph type="sldNum" idx="10"/>
          </p:nvPr>
        </p:nvSpPr>
        <p:spPr/>
        <p:txBody>
          <a:bodyPr/>
          <a:lstStyle/>
          <a:p>
            <a:fld id="{C21EBF4B-869B-1648-9840-4FBF9C56D814}" type="slidenum">
              <a:rPr lang="en-US" smtClean="0"/>
              <a:t>‹#›</a:t>
            </a:fld>
            <a:endParaRPr lang="en-US"/>
          </a:p>
        </p:txBody>
      </p:sp>
    </p:spTree>
    <p:extLst>
      <p:ext uri="{BB962C8B-B14F-4D97-AF65-F5344CB8AC3E}">
        <p14:creationId xmlns:p14="http://schemas.microsoft.com/office/powerpoint/2010/main" val="1400244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415600" y="1688433"/>
            <a:ext cx="11360800" cy="44036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latin typeface="Open Sans"/>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C21EBF4B-869B-1648-9840-4FBF9C56D814}" type="slidenum">
              <a:rPr lang="en-US" smtClean="0"/>
              <a:t>‹#›</a:t>
            </a:fld>
            <a:endParaRPr lang="en-US"/>
          </a:p>
        </p:txBody>
      </p:sp>
    </p:spTree>
    <p:extLst>
      <p:ext uri="{BB962C8B-B14F-4D97-AF65-F5344CB8AC3E}">
        <p14:creationId xmlns:p14="http://schemas.microsoft.com/office/powerpoint/2010/main" val="185948926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1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50.png"/><Relationship Id="rId5" Type="http://schemas.openxmlformats.org/officeDocument/2006/relationships/image" Target="../media/image140.png"/><Relationship Id="rId4" Type="http://schemas.openxmlformats.org/officeDocument/2006/relationships/image" Target="../media/image130.png"/></Relationships>
</file>

<file path=ppt/slides/_rels/slide1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7.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20.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0.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3.xml"/><Relationship Id="rId7" Type="http://schemas.openxmlformats.org/officeDocument/2006/relationships/hyperlink" Target="https://www.slido.com/powerpoint-polling?utm_source=powerpoint&amp;utm_medium=placeholder-slide" TargetMode="External"/><Relationship Id="rId12" Type="http://schemas.openxmlformats.org/officeDocument/2006/relationships/image" Target="../media/image17.svg"/><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13.svg"/><Relationship Id="rId11" Type="http://schemas.openxmlformats.org/officeDocument/2006/relationships/image" Target="../media/image16.png"/><Relationship Id="rId5" Type="http://schemas.openxmlformats.org/officeDocument/2006/relationships/image" Target="../media/image12.png"/><Relationship Id="rId10" Type="http://schemas.openxmlformats.org/officeDocument/2006/relationships/hyperlink" Target="https://www.slido.com/support/ppi/how-to-change-the-design" TargetMode="External"/><Relationship Id="rId4" Type="http://schemas.openxmlformats.org/officeDocument/2006/relationships/slideLayout" Target="../slideLayouts/slideLayout10.xml"/><Relationship Id="rId9" Type="http://schemas.openxmlformats.org/officeDocument/2006/relationships/image" Target="../media/image15.svg"/></Relationships>
</file>

<file path=ppt/slides/_rels/slide36.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4DE55-1113-2D34-7A68-7F10786EEE95}"/>
              </a:ext>
            </a:extLst>
          </p:cNvPr>
          <p:cNvSpPr>
            <a:spLocks noGrp="1"/>
          </p:cNvSpPr>
          <p:nvPr>
            <p:ph type="ctrTitle"/>
          </p:nvPr>
        </p:nvSpPr>
        <p:spPr/>
        <p:txBody>
          <a:bodyPr>
            <a:normAutofit fontScale="90000"/>
          </a:bodyPr>
          <a:lstStyle/>
          <a:p>
            <a:r>
              <a:rPr lang="en-US" dirty="0"/>
              <a:t>Lab 2 – Intro to DS, Distance &amp; Similarity</a:t>
            </a:r>
          </a:p>
        </p:txBody>
      </p:sp>
      <p:sp>
        <p:nvSpPr>
          <p:cNvPr id="3" name="Subtitle 2">
            <a:extLst>
              <a:ext uri="{FF2B5EF4-FFF2-40B4-BE49-F238E27FC236}">
                <a16:creationId xmlns:a16="http://schemas.microsoft.com/office/drawing/2014/main" id="{368B221C-2E8A-202C-1511-3F71E17483C6}"/>
              </a:ext>
            </a:extLst>
          </p:cNvPr>
          <p:cNvSpPr>
            <a:spLocks noGrp="1"/>
          </p:cNvSpPr>
          <p:nvPr>
            <p:ph type="subTitle" idx="1"/>
          </p:nvPr>
        </p:nvSpPr>
        <p:spPr/>
        <p:txBody>
          <a:bodyPr/>
          <a:lstStyle/>
          <a:p>
            <a:r>
              <a:rPr lang="en-US" dirty="0"/>
              <a:t>CS 506</a:t>
            </a:r>
          </a:p>
        </p:txBody>
      </p:sp>
    </p:spTree>
    <p:extLst>
      <p:ext uri="{BB962C8B-B14F-4D97-AF65-F5344CB8AC3E}">
        <p14:creationId xmlns:p14="http://schemas.microsoft.com/office/powerpoint/2010/main" val="2499522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8EE11-3DCE-9031-4F77-D6308F51CF68}"/>
              </a:ext>
            </a:extLst>
          </p:cNvPr>
          <p:cNvSpPr>
            <a:spLocks noGrp="1"/>
          </p:cNvSpPr>
          <p:nvPr>
            <p:ph type="title"/>
          </p:nvPr>
        </p:nvSpPr>
        <p:spPr/>
        <p:txBody>
          <a:bodyPr/>
          <a:lstStyle/>
          <a:p>
            <a:r>
              <a:rPr lang="en-US" dirty="0"/>
              <a:t>About me</a:t>
            </a:r>
          </a:p>
        </p:txBody>
      </p:sp>
    </p:spTree>
    <p:extLst>
      <p:ext uri="{BB962C8B-B14F-4D97-AF65-F5344CB8AC3E}">
        <p14:creationId xmlns:p14="http://schemas.microsoft.com/office/powerpoint/2010/main" val="2820271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85DC-E9C9-528B-4DD6-83DEC8D7B220}"/>
              </a:ext>
            </a:extLst>
          </p:cNvPr>
          <p:cNvSpPr>
            <a:spLocks noGrp="1"/>
          </p:cNvSpPr>
          <p:nvPr>
            <p:ph type="title"/>
          </p:nvPr>
        </p:nvSpPr>
        <p:spPr/>
        <p:txBody>
          <a:bodyPr/>
          <a:lstStyle/>
          <a:p>
            <a:r>
              <a:rPr lang="en-US" dirty="0"/>
              <a:t>Lab grading</a:t>
            </a:r>
          </a:p>
        </p:txBody>
      </p:sp>
      <p:sp>
        <p:nvSpPr>
          <p:cNvPr id="3" name="Text Placeholder 2">
            <a:extLst>
              <a:ext uri="{FF2B5EF4-FFF2-40B4-BE49-F238E27FC236}">
                <a16:creationId xmlns:a16="http://schemas.microsoft.com/office/drawing/2014/main" id="{349B047B-087F-6467-9BB4-1E15F3B39ECF}"/>
              </a:ext>
            </a:extLst>
          </p:cNvPr>
          <p:cNvSpPr>
            <a:spLocks noGrp="1"/>
          </p:cNvSpPr>
          <p:nvPr>
            <p:ph type="body" idx="1"/>
          </p:nvPr>
        </p:nvSpPr>
        <p:spPr/>
        <p:txBody>
          <a:bodyPr/>
          <a:lstStyle/>
          <a:p>
            <a:r>
              <a:rPr lang="en-US" dirty="0"/>
              <a:t>Labs are worth 10% of your grade</a:t>
            </a:r>
          </a:p>
          <a:p>
            <a:r>
              <a:rPr lang="en-US" dirty="0"/>
              <a:t>Labs are fully attendance based</a:t>
            </a:r>
          </a:p>
          <a:p>
            <a:r>
              <a:rPr lang="en-US" dirty="0"/>
              <a:t>You can miss up to 3 labs and still get all 10% toward your final grade</a:t>
            </a:r>
          </a:p>
          <a:p>
            <a:endParaRPr lang="en-US" dirty="0"/>
          </a:p>
          <a:p>
            <a:endParaRPr lang="en-US" dirty="0"/>
          </a:p>
        </p:txBody>
      </p:sp>
    </p:spTree>
    <p:extLst>
      <p:ext uri="{BB962C8B-B14F-4D97-AF65-F5344CB8AC3E}">
        <p14:creationId xmlns:p14="http://schemas.microsoft.com/office/powerpoint/2010/main" val="251149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03AA2-B4A0-AAD7-0511-88D9D8EAF343}"/>
              </a:ext>
            </a:extLst>
          </p:cNvPr>
          <p:cNvSpPr>
            <a:spLocks noGrp="1"/>
          </p:cNvSpPr>
          <p:nvPr>
            <p:ph type="title"/>
          </p:nvPr>
        </p:nvSpPr>
        <p:spPr/>
        <p:txBody>
          <a:bodyPr/>
          <a:lstStyle/>
          <a:p>
            <a:r>
              <a:rPr lang="en-US" dirty="0"/>
              <a:t>Learning Objectives</a:t>
            </a:r>
          </a:p>
        </p:txBody>
      </p:sp>
      <p:sp>
        <p:nvSpPr>
          <p:cNvPr id="3" name="Text Placeholder 2">
            <a:extLst>
              <a:ext uri="{FF2B5EF4-FFF2-40B4-BE49-F238E27FC236}">
                <a16:creationId xmlns:a16="http://schemas.microsoft.com/office/drawing/2014/main" id="{CB37F796-C314-2A13-BBF1-ABC1549C60EB}"/>
              </a:ext>
            </a:extLst>
          </p:cNvPr>
          <p:cNvSpPr>
            <a:spLocks noGrp="1"/>
          </p:cNvSpPr>
          <p:nvPr>
            <p:ph type="body" idx="1"/>
          </p:nvPr>
        </p:nvSpPr>
        <p:spPr/>
        <p:txBody>
          <a:bodyPr/>
          <a:lstStyle/>
          <a:p>
            <a:pPr marL="495296" indent="-342900">
              <a:buFont typeface="+mj-lt"/>
              <a:buAutoNum type="arabicPeriod"/>
            </a:pPr>
            <a:r>
              <a:rPr lang="en-US" dirty="0"/>
              <a:t>Understand cosine similarity and Jaccard similarity</a:t>
            </a:r>
          </a:p>
          <a:p>
            <a:pPr marL="495296" indent="-342900">
              <a:buFont typeface="+mj-lt"/>
              <a:buAutoNum type="arabicPeriod"/>
            </a:pPr>
            <a:r>
              <a:rPr lang="en-US" dirty="0"/>
              <a:t>Understand properties of Minkowski distance with varying p</a:t>
            </a:r>
          </a:p>
          <a:p>
            <a:pPr marL="495296" indent="-342900">
              <a:buFont typeface="+mj-lt"/>
              <a:buAutoNum type="arabicPeriod"/>
            </a:pPr>
            <a:r>
              <a:rPr lang="en-US" dirty="0"/>
              <a:t>Implement cosine similarity, Jaccard similarity, and Minkowski distance in Python</a:t>
            </a:r>
          </a:p>
          <a:p>
            <a:pPr marL="495296" indent="-342900">
              <a:buFont typeface="+mj-lt"/>
              <a:buAutoNum type="arabicPeriod"/>
            </a:pPr>
            <a:r>
              <a:rPr lang="en-US" dirty="0"/>
              <a:t>Identify when to use Jaccard similarity vs. L1-norm</a:t>
            </a:r>
          </a:p>
          <a:p>
            <a:pPr marL="495296" indent="-342900">
              <a:buFont typeface="+mj-lt"/>
              <a:buAutoNum type="arabicPeriod"/>
            </a:pPr>
            <a:r>
              <a:rPr lang="en-US" dirty="0"/>
              <a:t>Identify when to use cosine similarity vs. L2-norm</a:t>
            </a:r>
          </a:p>
          <a:p>
            <a:pPr marL="495296" indent="-342900">
              <a:buFont typeface="+mj-lt"/>
              <a:buAutoNum type="arabicPeriod"/>
            </a:pPr>
            <a:endParaRPr lang="en-US" dirty="0"/>
          </a:p>
        </p:txBody>
      </p:sp>
    </p:spTree>
    <p:extLst>
      <p:ext uri="{BB962C8B-B14F-4D97-AF65-F5344CB8AC3E}">
        <p14:creationId xmlns:p14="http://schemas.microsoft.com/office/powerpoint/2010/main" val="13090257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067DF-6D6C-0B54-0169-07316776C6A9}"/>
              </a:ext>
            </a:extLst>
          </p:cNvPr>
          <p:cNvSpPr>
            <a:spLocks noGrp="1"/>
          </p:cNvSpPr>
          <p:nvPr>
            <p:ph type="title"/>
          </p:nvPr>
        </p:nvSpPr>
        <p:spPr/>
        <p:txBody>
          <a:bodyPr/>
          <a:lstStyle/>
          <a:p>
            <a:r>
              <a:rPr lang="en-US" dirty="0"/>
              <a:t>Data</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CE0EA26-A2C2-36C6-9B39-78ED7D1CFFF1}"/>
                  </a:ext>
                </a:extLst>
              </p:cNvPr>
              <p:cNvSpPr>
                <a:spLocks noGrp="1"/>
              </p:cNvSpPr>
              <p:nvPr>
                <p:ph type="body" idx="1"/>
              </p:nvPr>
            </p:nvSpPr>
            <p:spPr/>
            <p:txBody>
              <a:bodyPr/>
              <a:lstStyle/>
              <a:p>
                <a:r>
                  <a:rPr lang="en-US" dirty="0"/>
                  <a:t>Facts and statistics collected for reference or analysis</a:t>
                </a:r>
              </a:p>
              <a:p>
                <a:r>
                  <a:rPr lang="en-US" dirty="0"/>
                  <a:t>Example types of data:</a:t>
                </a:r>
              </a:p>
              <a:p>
                <a:pPr lvl="1"/>
                <a:r>
                  <a:rPr lang="en-US" dirty="0"/>
                  <a:t>Records: m – dimensional points or vectors</a:t>
                </a:r>
              </a:p>
              <a:p>
                <a:pPr lvl="2"/>
                <a:r>
                  <a:rPr lang="en-US" dirty="0"/>
                  <a:t>E.g., (name, age, height (in)) </a:t>
                </a:r>
                <a:r>
                  <a:rPr lang="en-US" dirty="0">
                    <a:sym typeface="Wingdings" pitchFamily="2" charset="2"/>
                  </a:rPr>
                  <a:t> X = (Lucy, 11, 53), Y = (Stacy, 17, 62)</a:t>
                </a: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endParaRPr lang="en-US" dirty="0">
                  <a:sym typeface="Wingdings" pitchFamily="2" charset="2"/>
                </a:endParaRPr>
              </a:p>
              <a:p>
                <a:pPr lvl="2"/>
                <a:r>
                  <a:rPr lang="en-US" dirty="0">
                    <a:sym typeface="Wingdings" pitchFamily="2" charset="2"/>
                  </a:rPr>
                  <a:t>We could read X and Y as vectors</a:t>
                </a:r>
                <a:endParaRPr lang="en-US" dirty="0">
                  <a:ea typeface="Cambria Math" panose="02040503050406030204" pitchFamily="18" charset="0"/>
                  <a:sym typeface="Wingdings" pitchFamily="2" charset="2"/>
                </a:endParaRPr>
              </a:p>
              <a:p>
                <a:pPr lvl="3"/>
                <a14:m>
                  <m:oMath xmlns:m="http://schemas.openxmlformats.org/officeDocument/2006/math">
                    <m:sSub>
                      <m:sSubPr>
                        <m:ctrlPr>
                          <a:rPr lang="en-US" b="0" i="1" smtClean="0">
                            <a:latin typeface="Cambria Math" panose="02040503050406030204" pitchFamily="18" charset="0"/>
                            <a:ea typeface="Cambria Math" panose="02040503050406030204" pitchFamily="18" charset="0"/>
                            <a:sym typeface="Wingdings" pitchFamily="2" charset="2"/>
                          </a:rPr>
                        </m:ctrlPr>
                      </m:sSubPr>
                      <m:e>
                        <m:r>
                          <a:rPr lang="en-US" b="0" i="1" smtClean="0">
                            <a:latin typeface="Cambria Math" panose="02040503050406030204" pitchFamily="18" charset="0"/>
                            <a:ea typeface="Cambria Math" panose="02040503050406030204" pitchFamily="18" charset="0"/>
                            <a:sym typeface="Wingdings" pitchFamily="2" charset="2"/>
                          </a:rPr>
                          <m:t>𝑋</m:t>
                        </m:r>
                      </m:e>
                      <m:sub>
                        <m:r>
                          <a:rPr lang="en-US" b="0" i="1" smtClean="0">
                            <a:latin typeface="Cambria Math" panose="02040503050406030204" pitchFamily="18" charset="0"/>
                            <a:ea typeface="Cambria Math" panose="02040503050406030204" pitchFamily="18" charset="0"/>
                            <a:sym typeface="Wingdings" pitchFamily="2" charset="2"/>
                          </a:rPr>
                          <m:t>1</m:t>
                        </m:r>
                      </m:sub>
                    </m:sSub>
                    <m:r>
                      <a:rPr lang="en-US" b="0" i="1" smtClean="0">
                        <a:latin typeface="Cambria Math" panose="02040503050406030204" pitchFamily="18" charset="0"/>
                        <a:ea typeface="Cambria Math" panose="02040503050406030204" pitchFamily="18" charset="0"/>
                        <a:sym typeface="Wingdings" pitchFamily="2" charset="2"/>
                      </a:rPr>
                      <m:t>=</m:t>
                    </m:r>
                    <m:r>
                      <a:rPr lang="en-US" b="0" i="1" smtClean="0">
                        <a:latin typeface="Cambria Math" panose="02040503050406030204" pitchFamily="18" charset="0"/>
                        <a:ea typeface="Cambria Math" panose="02040503050406030204" pitchFamily="18" charset="0"/>
                        <a:sym typeface="Wingdings" pitchFamily="2" charset="2"/>
                      </a:rPr>
                      <m:t>𝐿𝑢𝑐𝑦</m:t>
                    </m:r>
                    <m:r>
                      <a:rPr lang="en-US" b="0" i="1" smtClean="0">
                        <a:latin typeface="Cambria Math" panose="02040503050406030204" pitchFamily="18" charset="0"/>
                        <a:ea typeface="Cambria Math" panose="02040503050406030204" pitchFamily="18" charset="0"/>
                        <a:sym typeface="Wingdings" pitchFamily="2" charset="2"/>
                      </a:rPr>
                      <m:t>,</m:t>
                    </m:r>
                    <m:sSub>
                      <m:sSubPr>
                        <m:ctrlPr>
                          <a:rPr lang="en-US" b="0" i="1" smtClean="0">
                            <a:latin typeface="Cambria Math" panose="02040503050406030204" pitchFamily="18" charset="0"/>
                            <a:ea typeface="Cambria Math" panose="02040503050406030204" pitchFamily="18" charset="0"/>
                            <a:sym typeface="Wingdings" pitchFamily="2" charset="2"/>
                          </a:rPr>
                        </m:ctrlPr>
                      </m:sSubPr>
                      <m:e>
                        <m:r>
                          <a:rPr lang="en-US" b="0" i="1" smtClean="0">
                            <a:latin typeface="Cambria Math" panose="02040503050406030204" pitchFamily="18" charset="0"/>
                            <a:ea typeface="Cambria Math" panose="02040503050406030204" pitchFamily="18" charset="0"/>
                            <a:sym typeface="Wingdings" pitchFamily="2" charset="2"/>
                          </a:rPr>
                          <m:t>𝑌</m:t>
                        </m:r>
                      </m:e>
                      <m:sub>
                        <m:r>
                          <a:rPr lang="en-US" b="0" i="1" smtClean="0">
                            <a:latin typeface="Cambria Math" panose="02040503050406030204" pitchFamily="18" charset="0"/>
                            <a:ea typeface="Cambria Math" panose="02040503050406030204" pitchFamily="18" charset="0"/>
                            <a:sym typeface="Wingdings" pitchFamily="2" charset="2"/>
                          </a:rPr>
                          <m:t>2</m:t>
                        </m:r>
                      </m:sub>
                    </m:sSub>
                    <m:r>
                      <a:rPr lang="en-US" b="0" i="1" smtClean="0">
                        <a:latin typeface="Cambria Math" panose="02040503050406030204" pitchFamily="18" charset="0"/>
                        <a:ea typeface="Cambria Math" panose="02040503050406030204" pitchFamily="18" charset="0"/>
                        <a:sym typeface="Wingdings" pitchFamily="2" charset="2"/>
                      </a:rPr>
                      <m:t>=17,…</m:t>
                    </m:r>
                  </m:oMath>
                </a14:m>
                <a:endParaRPr lang="en-US" b="0" dirty="0">
                  <a:ea typeface="Cambria Math" panose="02040503050406030204" pitchFamily="18" charset="0"/>
                  <a:sym typeface="Wingdings" pitchFamily="2" charset="2"/>
                </a:endParaRPr>
              </a:p>
              <a:p>
                <a:pPr marL="2015016" lvl="3" indent="0">
                  <a:buNone/>
                </a:pPr>
                <a:endParaRPr lang="en-US" dirty="0">
                  <a:ea typeface="Cambria Math" panose="02040503050406030204" pitchFamily="18" charset="0"/>
                  <a:sym typeface="Wingdings" pitchFamily="2" charset="2"/>
                </a:endParaRPr>
              </a:p>
              <a:p>
                <a:pPr lvl="2"/>
                <a:endParaRPr lang="en-US" b="0" dirty="0">
                  <a:sym typeface="Wingdings" pitchFamily="2" charset="2"/>
                </a:endParaRPr>
              </a:p>
              <a:p>
                <a:pPr lvl="2"/>
                <a:endParaRPr lang="en-US" dirty="0"/>
              </a:p>
            </p:txBody>
          </p:sp>
        </mc:Choice>
        <mc:Fallback xmlns="">
          <p:sp>
            <p:nvSpPr>
              <p:cNvPr id="3" name="Text Placeholder 2">
                <a:extLst>
                  <a:ext uri="{FF2B5EF4-FFF2-40B4-BE49-F238E27FC236}">
                    <a16:creationId xmlns:a16="http://schemas.microsoft.com/office/drawing/2014/main" id="{CCE0EA26-A2C2-36C6-9B39-78ED7D1CFFF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5" name="Straight Arrow Connector 4">
            <a:extLst>
              <a:ext uri="{FF2B5EF4-FFF2-40B4-BE49-F238E27FC236}">
                <a16:creationId xmlns:a16="http://schemas.microsoft.com/office/drawing/2014/main" id="{519069BD-134B-8C52-C6AC-3D1D34087C55}"/>
              </a:ext>
            </a:extLst>
          </p:cNvPr>
          <p:cNvCxnSpPr>
            <a:cxnSpLocks/>
          </p:cNvCxnSpPr>
          <p:nvPr/>
        </p:nvCxnSpPr>
        <p:spPr>
          <a:xfrm flipV="1">
            <a:off x="2913321" y="3189767"/>
            <a:ext cx="0" cy="16374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FBEF20E-DCB8-7726-30A6-D304DAC42AF6}"/>
              </a:ext>
            </a:extLst>
          </p:cNvPr>
          <p:cNvCxnSpPr/>
          <p:nvPr/>
        </p:nvCxnSpPr>
        <p:spPr>
          <a:xfrm>
            <a:off x="2913321" y="4816549"/>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C10E8B0-07F8-9F8B-9497-5C03038360F7}"/>
              </a:ext>
            </a:extLst>
          </p:cNvPr>
          <p:cNvSpPr txBox="1"/>
          <p:nvPr/>
        </p:nvSpPr>
        <p:spPr>
          <a:xfrm>
            <a:off x="4710223" y="4673292"/>
            <a:ext cx="503664" cy="307777"/>
          </a:xfrm>
          <a:prstGeom prst="rect">
            <a:avLst/>
          </a:prstGeom>
          <a:noFill/>
        </p:spPr>
        <p:txBody>
          <a:bodyPr wrap="none" rtlCol="0">
            <a:spAutoFit/>
          </a:bodyPr>
          <a:lstStyle/>
          <a:p>
            <a:r>
              <a:rPr lang="en-US" dirty="0"/>
              <a:t>Age</a:t>
            </a:r>
          </a:p>
        </p:txBody>
      </p:sp>
      <p:sp>
        <p:nvSpPr>
          <p:cNvPr id="10" name="TextBox 9">
            <a:extLst>
              <a:ext uri="{FF2B5EF4-FFF2-40B4-BE49-F238E27FC236}">
                <a16:creationId xmlns:a16="http://schemas.microsoft.com/office/drawing/2014/main" id="{BC5E1F1D-18BB-8447-FD63-FA736DDB8E19}"/>
              </a:ext>
            </a:extLst>
          </p:cNvPr>
          <p:cNvSpPr txBox="1"/>
          <p:nvPr/>
        </p:nvSpPr>
        <p:spPr>
          <a:xfrm>
            <a:off x="2210885" y="3037901"/>
            <a:ext cx="702436" cy="307777"/>
          </a:xfrm>
          <a:prstGeom prst="rect">
            <a:avLst/>
          </a:prstGeom>
          <a:noFill/>
        </p:spPr>
        <p:txBody>
          <a:bodyPr wrap="none" rtlCol="0">
            <a:spAutoFit/>
          </a:bodyPr>
          <a:lstStyle/>
          <a:p>
            <a:r>
              <a:rPr lang="en-US" dirty="0"/>
              <a:t>Height</a:t>
            </a:r>
          </a:p>
        </p:txBody>
      </p:sp>
      <p:cxnSp>
        <p:nvCxnSpPr>
          <p:cNvPr id="12" name="Straight Arrow Connector 11">
            <a:extLst>
              <a:ext uri="{FF2B5EF4-FFF2-40B4-BE49-F238E27FC236}">
                <a16:creationId xmlns:a16="http://schemas.microsoft.com/office/drawing/2014/main" id="{3FFAC652-EE04-788B-FE90-0122F317D88D}"/>
              </a:ext>
            </a:extLst>
          </p:cNvPr>
          <p:cNvCxnSpPr/>
          <p:nvPr/>
        </p:nvCxnSpPr>
        <p:spPr>
          <a:xfrm flipV="1">
            <a:off x="2913321" y="3890233"/>
            <a:ext cx="457200" cy="926316"/>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4" name="Straight Arrow Connector 13">
            <a:extLst>
              <a:ext uri="{FF2B5EF4-FFF2-40B4-BE49-F238E27FC236}">
                <a16:creationId xmlns:a16="http://schemas.microsoft.com/office/drawing/2014/main" id="{AA47BC01-6A33-1F0B-5489-28B2737EC7D5}"/>
              </a:ext>
            </a:extLst>
          </p:cNvPr>
          <p:cNvCxnSpPr/>
          <p:nvPr/>
        </p:nvCxnSpPr>
        <p:spPr>
          <a:xfrm flipV="1">
            <a:off x="2913321" y="3519377"/>
            <a:ext cx="1307805" cy="12971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5" name="TextBox 14">
            <a:extLst>
              <a:ext uri="{FF2B5EF4-FFF2-40B4-BE49-F238E27FC236}">
                <a16:creationId xmlns:a16="http://schemas.microsoft.com/office/drawing/2014/main" id="{15C466A4-D3F0-2504-26F5-5475022B2FD5}"/>
              </a:ext>
            </a:extLst>
          </p:cNvPr>
          <p:cNvSpPr txBox="1"/>
          <p:nvPr/>
        </p:nvSpPr>
        <p:spPr>
          <a:xfrm>
            <a:off x="3072815" y="3649495"/>
            <a:ext cx="738957" cy="307777"/>
          </a:xfrm>
          <a:prstGeom prst="rect">
            <a:avLst/>
          </a:prstGeom>
          <a:noFill/>
        </p:spPr>
        <p:txBody>
          <a:bodyPr wrap="square" rtlCol="0">
            <a:spAutoFit/>
          </a:bodyPr>
          <a:lstStyle/>
          <a:p>
            <a:r>
              <a:rPr lang="en-US" dirty="0"/>
              <a:t>Lucy</a:t>
            </a:r>
          </a:p>
        </p:txBody>
      </p:sp>
      <p:sp>
        <p:nvSpPr>
          <p:cNvPr id="16" name="TextBox 15">
            <a:extLst>
              <a:ext uri="{FF2B5EF4-FFF2-40B4-BE49-F238E27FC236}">
                <a16:creationId xmlns:a16="http://schemas.microsoft.com/office/drawing/2014/main" id="{505BEA2B-A6DA-B230-B37F-F5CBBC6470A0}"/>
              </a:ext>
            </a:extLst>
          </p:cNvPr>
          <p:cNvSpPr txBox="1"/>
          <p:nvPr/>
        </p:nvSpPr>
        <p:spPr>
          <a:xfrm>
            <a:off x="4017490" y="3275111"/>
            <a:ext cx="691116" cy="307777"/>
          </a:xfrm>
          <a:prstGeom prst="rect">
            <a:avLst/>
          </a:prstGeom>
          <a:noFill/>
        </p:spPr>
        <p:txBody>
          <a:bodyPr wrap="square" rtlCol="0">
            <a:spAutoFit/>
          </a:bodyPr>
          <a:lstStyle/>
          <a:p>
            <a:r>
              <a:rPr lang="en-US" dirty="0"/>
              <a:t>Stacy</a:t>
            </a:r>
          </a:p>
        </p:txBody>
      </p:sp>
    </p:spTree>
    <p:extLst>
      <p:ext uri="{BB962C8B-B14F-4D97-AF65-F5344CB8AC3E}">
        <p14:creationId xmlns:p14="http://schemas.microsoft.com/office/powerpoint/2010/main" val="3645278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555D5-7205-147F-AD5E-FA5736A2D9B3}"/>
              </a:ext>
            </a:extLst>
          </p:cNvPr>
          <p:cNvSpPr>
            <a:spLocks noGrp="1"/>
          </p:cNvSpPr>
          <p:nvPr>
            <p:ph type="title"/>
          </p:nvPr>
        </p:nvSpPr>
        <p:spPr/>
        <p:txBody>
          <a:bodyPr/>
          <a:lstStyle/>
          <a:p>
            <a:r>
              <a:rPr lang="en-US" dirty="0"/>
              <a:t>Data (cont.)</a:t>
            </a:r>
          </a:p>
        </p:txBody>
      </p:sp>
      <p:sp>
        <p:nvSpPr>
          <p:cNvPr id="3" name="Text Placeholder 2">
            <a:extLst>
              <a:ext uri="{FF2B5EF4-FFF2-40B4-BE49-F238E27FC236}">
                <a16:creationId xmlns:a16="http://schemas.microsoft.com/office/drawing/2014/main" id="{4EFE0515-FF6A-6167-A878-7726C84C04DA}"/>
              </a:ext>
            </a:extLst>
          </p:cNvPr>
          <p:cNvSpPr>
            <a:spLocks noGrp="1"/>
          </p:cNvSpPr>
          <p:nvPr>
            <p:ph type="body" idx="1"/>
          </p:nvPr>
        </p:nvSpPr>
        <p:spPr/>
        <p:txBody>
          <a:bodyPr/>
          <a:lstStyle/>
          <a:p>
            <a:r>
              <a:rPr lang="en-US" dirty="0"/>
              <a:t>Example types of data:</a:t>
            </a:r>
          </a:p>
          <a:p>
            <a:pPr lvl="1"/>
            <a:r>
              <a:rPr lang="en-US" dirty="0"/>
              <a:t>Graphs: nodes connected by edges</a:t>
            </a:r>
          </a:p>
          <a:p>
            <a:pPr lvl="1"/>
            <a:r>
              <a:rPr lang="en-US" dirty="0"/>
              <a:t>E.g., graph to show a social media network. Nodes = individual people, Edges = follower relation</a:t>
            </a:r>
          </a:p>
        </p:txBody>
      </p:sp>
      <p:cxnSp>
        <p:nvCxnSpPr>
          <p:cNvPr id="14" name="Straight Arrow Connector 13">
            <a:extLst>
              <a:ext uri="{FF2B5EF4-FFF2-40B4-BE49-F238E27FC236}">
                <a16:creationId xmlns:a16="http://schemas.microsoft.com/office/drawing/2014/main" id="{47FEB12A-154F-A92B-1AF4-C5B091745426}"/>
              </a:ext>
            </a:extLst>
          </p:cNvPr>
          <p:cNvCxnSpPr>
            <a:cxnSpLocks/>
            <a:endCxn id="35" idx="3"/>
          </p:cNvCxnSpPr>
          <p:nvPr/>
        </p:nvCxnSpPr>
        <p:spPr>
          <a:xfrm flipV="1">
            <a:off x="4618074" y="3824663"/>
            <a:ext cx="706936" cy="616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4AB8B4BD-48B8-AF05-0EBD-9008B57795F6}"/>
              </a:ext>
            </a:extLst>
          </p:cNvPr>
          <p:cNvCxnSpPr>
            <a:cxnSpLocks/>
          </p:cNvCxnSpPr>
          <p:nvPr/>
        </p:nvCxnSpPr>
        <p:spPr>
          <a:xfrm flipV="1">
            <a:off x="5415516" y="3429000"/>
            <a:ext cx="680484" cy="313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40248466-7819-F4A0-4125-9D0B34C25ED6}"/>
              </a:ext>
            </a:extLst>
          </p:cNvPr>
          <p:cNvCxnSpPr>
            <a:cxnSpLocks/>
            <a:stCxn id="36" idx="6"/>
            <a:endCxn id="34" idx="1"/>
          </p:cNvCxnSpPr>
          <p:nvPr/>
        </p:nvCxnSpPr>
        <p:spPr>
          <a:xfrm>
            <a:off x="6138531" y="3364595"/>
            <a:ext cx="823643" cy="351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1DE28E89-1262-34D0-8FA3-CC4817AE8B87}"/>
              </a:ext>
            </a:extLst>
          </p:cNvPr>
          <p:cNvCxnSpPr>
            <a:cxnSpLocks/>
            <a:stCxn id="34" idx="3"/>
            <a:endCxn id="37" idx="6"/>
          </p:cNvCxnSpPr>
          <p:nvPr/>
        </p:nvCxnSpPr>
        <p:spPr>
          <a:xfrm flipH="1">
            <a:off x="4671237" y="3795420"/>
            <a:ext cx="2290937" cy="6746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8B312B00-E0E1-B627-2E17-582C2D518799}"/>
              </a:ext>
            </a:extLst>
          </p:cNvPr>
          <p:cNvCxnSpPr>
            <a:cxnSpLocks/>
            <a:stCxn id="34" idx="2"/>
            <a:endCxn id="36" idx="4"/>
          </p:cNvCxnSpPr>
          <p:nvPr/>
        </p:nvCxnSpPr>
        <p:spPr>
          <a:xfrm flipH="1" flipV="1">
            <a:off x="6085368" y="3420416"/>
            <a:ext cx="861235" cy="3355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8D546FB0-C892-50B6-F00B-F870A894A6AD}"/>
              </a:ext>
            </a:extLst>
          </p:cNvPr>
          <p:cNvSpPr/>
          <p:nvPr/>
        </p:nvSpPr>
        <p:spPr>
          <a:xfrm>
            <a:off x="6946603" y="3700128"/>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962E404-3858-826B-E295-BF92A136FCA3}"/>
              </a:ext>
            </a:extLst>
          </p:cNvPr>
          <p:cNvSpPr/>
          <p:nvPr/>
        </p:nvSpPr>
        <p:spPr>
          <a:xfrm>
            <a:off x="5309439" y="3729371"/>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471BF54F-2CB0-558D-575F-99CAEDCDA41A}"/>
              </a:ext>
            </a:extLst>
          </p:cNvPr>
          <p:cNvSpPr/>
          <p:nvPr/>
        </p:nvSpPr>
        <p:spPr>
          <a:xfrm>
            <a:off x="6032205" y="3308774"/>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7BFD30B-A71C-E9BF-B307-055D9F525FAC}"/>
              </a:ext>
            </a:extLst>
          </p:cNvPr>
          <p:cNvSpPr/>
          <p:nvPr/>
        </p:nvSpPr>
        <p:spPr>
          <a:xfrm>
            <a:off x="4564911" y="4414242"/>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CA6D5B7E-79E3-90C4-CDB8-FAA8FBA0FF98}"/>
              </a:ext>
            </a:extLst>
          </p:cNvPr>
          <p:cNvSpPr txBox="1"/>
          <p:nvPr/>
        </p:nvSpPr>
        <p:spPr>
          <a:xfrm>
            <a:off x="4017464" y="4316174"/>
            <a:ext cx="600610" cy="307777"/>
          </a:xfrm>
          <a:prstGeom prst="rect">
            <a:avLst/>
          </a:prstGeom>
          <a:noFill/>
        </p:spPr>
        <p:txBody>
          <a:bodyPr wrap="square" rtlCol="0">
            <a:spAutoFit/>
          </a:bodyPr>
          <a:lstStyle/>
          <a:p>
            <a:r>
              <a:rPr lang="en-US" dirty="0"/>
              <a:t>Jack</a:t>
            </a:r>
          </a:p>
        </p:txBody>
      </p:sp>
      <p:sp>
        <p:nvSpPr>
          <p:cNvPr id="48" name="TextBox 47">
            <a:extLst>
              <a:ext uri="{FF2B5EF4-FFF2-40B4-BE49-F238E27FC236}">
                <a16:creationId xmlns:a16="http://schemas.microsoft.com/office/drawing/2014/main" id="{F41FD077-277F-D989-6CB1-72646FB79D33}"/>
              </a:ext>
            </a:extLst>
          </p:cNvPr>
          <p:cNvSpPr txBox="1"/>
          <p:nvPr/>
        </p:nvSpPr>
        <p:spPr>
          <a:xfrm>
            <a:off x="4895719" y="3533236"/>
            <a:ext cx="600610" cy="307777"/>
          </a:xfrm>
          <a:prstGeom prst="rect">
            <a:avLst/>
          </a:prstGeom>
          <a:noFill/>
        </p:spPr>
        <p:txBody>
          <a:bodyPr wrap="square" rtlCol="0">
            <a:spAutoFit/>
          </a:bodyPr>
          <a:lstStyle/>
          <a:p>
            <a:r>
              <a:rPr lang="en-US" dirty="0"/>
              <a:t>Jill</a:t>
            </a:r>
          </a:p>
        </p:txBody>
      </p:sp>
      <p:sp>
        <p:nvSpPr>
          <p:cNvPr id="49" name="TextBox 48">
            <a:extLst>
              <a:ext uri="{FF2B5EF4-FFF2-40B4-BE49-F238E27FC236}">
                <a16:creationId xmlns:a16="http://schemas.microsoft.com/office/drawing/2014/main" id="{B1C5546A-5417-0A1D-D717-E7127B09ABAC}"/>
              </a:ext>
            </a:extLst>
          </p:cNvPr>
          <p:cNvSpPr txBox="1"/>
          <p:nvPr/>
        </p:nvSpPr>
        <p:spPr>
          <a:xfrm>
            <a:off x="5613297" y="3121223"/>
            <a:ext cx="600610" cy="307777"/>
          </a:xfrm>
          <a:prstGeom prst="rect">
            <a:avLst/>
          </a:prstGeom>
          <a:noFill/>
        </p:spPr>
        <p:txBody>
          <a:bodyPr wrap="square" rtlCol="0">
            <a:spAutoFit/>
          </a:bodyPr>
          <a:lstStyle/>
          <a:p>
            <a:r>
              <a:rPr lang="en-US" dirty="0"/>
              <a:t>Joe</a:t>
            </a:r>
          </a:p>
        </p:txBody>
      </p:sp>
      <p:sp>
        <p:nvSpPr>
          <p:cNvPr id="50" name="TextBox 49">
            <a:extLst>
              <a:ext uri="{FF2B5EF4-FFF2-40B4-BE49-F238E27FC236}">
                <a16:creationId xmlns:a16="http://schemas.microsoft.com/office/drawing/2014/main" id="{40D9E1EF-1214-699A-1C87-7F532EC0353B}"/>
              </a:ext>
            </a:extLst>
          </p:cNvPr>
          <p:cNvSpPr txBox="1"/>
          <p:nvPr/>
        </p:nvSpPr>
        <p:spPr>
          <a:xfrm>
            <a:off x="7019911" y="3641531"/>
            <a:ext cx="797526" cy="307777"/>
          </a:xfrm>
          <a:prstGeom prst="rect">
            <a:avLst/>
          </a:prstGeom>
          <a:noFill/>
        </p:spPr>
        <p:txBody>
          <a:bodyPr wrap="square" rtlCol="0">
            <a:spAutoFit/>
          </a:bodyPr>
          <a:lstStyle/>
          <a:p>
            <a:r>
              <a:rPr lang="en-US" dirty="0"/>
              <a:t>Jared</a:t>
            </a:r>
          </a:p>
        </p:txBody>
      </p:sp>
    </p:spTree>
    <p:extLst>
      <p:ext uri="{BB962C8B-B14F-4D97-AF65-F5344CB8AC3E}">
        <p14:creationId xmlns:p14="http://schemas.microsoft.com/office/powerpoint/2010/main" val="682111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B01BA-7B8B-228F-101E-702CBE7817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D056-90A8-E7F4-6E6E-5E1540C5F35B}"/>
              </a:ext>
            </a:extLst>
          </p:cNvPr>
          <p:cNvSpPr>
            <a:spLocks noGrp="1"/>
          </p:cNvSpPr>
          <p:nvPr>
            <p:ph type="title"/>
          </p:nvPr>
        </p:nvSpPr>
        <p:spPr/>
        <p:txBody>
          <a:bodyPr/>
          <a:lstStyle/>
          <a:p>
            <a:r>
              <a:rPr lang="en-US" dirty="0"/>
              <a:t>Data (cont.)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456C8F0-9894-CD98-5DBE-A4ABACC61740}"/>
                  </a:ext>
                </a:extLst>
              </p:cNvPr>
              <p:cNvSpPr>
                <a:spLocks noGrp="1"/>
              </p:cNvSpPr>
              <p:nvPr>
                <p:ph type="body" idx="1"/>
              </p:nvPr>
            </p:nvSpPr>
            <p:spPr>
              <a:xfrm>
                <a:off x="415600" y="1664160"/>
                <a:ext cx="11360800" cy="4403600"/>
              </a:xfrm>
            </p:spPr>
            <p:txBody>
              <a:bodyPr>
                <a:normAutofit/>
              </a:bodyPr>
              <a:lstStyle/>
              <a:p>
                <a:r>
                  <a:rPr lang="en-US" dirty="0"/>
                  <a:t>Example types of data:</a:t>
                </a:r>
              </a:p>
              <a:p>
                <a:pPr lvl="1"/>
                <a:r>
                  <a:rPr lang="en-US" dirty="0"/>
                  <a:t>Graphs: nodes connected by edges</a:t>
                </a:r>
              </a:p>
              <a:p>
                <a:pPr lvl="1"/>
                <a:r>
                  <a:rPr lang="en-US" dirty="0"/>
                  <a:t>E.g., graph to show a social media network. Nodes = individual people, Edges = follower relation</a:t>
                </a:r>
              </a:p>
              <a:p>
                <a:pPr lvl="1"/>
                <a:endParaRPr lang="en-US" dirty="0"/>
              </a:p>
              <a:p>
                <a:pPr lvl="1"/>
                <a:endParaRPr lang="en-US" dirty="0"/>
              </a:p>
              <a:p>
                <a:pPr lvl="1"/>
                <a:endParaRPr lang="en-US" dirty="0"/>
              </a:p>
              <a:p>
                <a:pPr lvl="1"/>
                <a:endParaRPr lang="en-US" dirty="0"/>
              </a:p>
              <a:p>
                <a:pPr lvl="1"/>
                <a:endParaRPr lang="en-US" dirty="0"/>
              </a:p>
              <a:p>
                <a:pPr lvl="1"/>
                <a:r>
                  <a:rPr lang="en-US" dirty="0"/>
                  <a:t>Adjacency Matrix:                    </a:t>
                </a:r>
                <a14:m>
                  <m:oMath xmlns:m="http://schemas.openxmlformats.org/officeDocument/2006/math">
                    <m:d>
                      <m:dPr>
                        <m:ctrlPr>
                          <a:rPr lang="en-US" b="0" i="1" smtClean="0">
                            <a:latin typeface="Cambria Math" panose="02040503050406030204" pitchFamily="18" charset="0"/>
                          </a:rPr>
                        </m:ctrlPr>
                      </m:dPr>
                      <m:e>
                        <m:m>
                          <m:mPr>
                            <m:plcHide m:val="on"/>
                            <m:mcs>
                              <m:mc>
                                <m:mcPr>
                                  <m:count m:val="4"/>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r>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b="0" i="1" smtClean="0">
                                  <a:latin typeface="Cambria Math" panose="02040503050406030204" pitchFamily="18" charset="0"/>
                                </a:rPr>
                                <m:t>1</m:t>
                              </m:r>
                            </m:e>
                          </m:mr>
                          <m:mr>
                            <m:e>
                              <m:r>
                                <a:rPr lang="en-US" b="0" i="1" smtClean="0">
                                  <a:latin typeface="Cambria Math" panose="02040503050406030204" pitchFamily="18" charset="0"/>
                                </a:rPr>
                                <m:t>1</m:t>
                              </m:r>
                            </m:e>
                            <m:e>
                              <m:r>
                                <a:rPr lang="en-US" b="0" i="1" smtClean="0">
                                  <a:latin typeface="Cambria Math" panose="02040503050406030204" pitchFamily="18" charset="0"/>
                                </a:rPr>
                                <m:t>0</m:t>
                              </m:r>
                            </m:e>
                            <m:e>
                              <m:r>
                                <a:rPr lang="en-US" b="0" i="1" smtClean="0">
                                  <a:latin typeface="Cambria Math" panose="02040503050406030204" pitchFamily="18" charset="0"/>
                                </a:rPr>
                                <m:t>1</m:t>
                              </m:r>
                            </m:e>
                            <m:e>
                              <m:r>
                                <a:rPr lang="en-US" b="0" i="1" smtClean="0">
                                  <a:latin typeface="Cambria Math" panose="02040503050406030204" pitchFamily="18" charset="0"/>
                                </a:rPr>
                                <m:t>0</m:t>
                              </m:r>
                            </m:e>
                          </m:mr>
                        </m:m>
                      </m:e>
                    </m:d>
                  </m:oMath>
                </a14:m>
                <a:endParaRPr lang="en-US" b="0" dirty="0"/>
              </a:p>
              <a:p>
                <a:pPr lvl="1"/>
                <a:endParaRPr lang="en-US" b="0" dirty="0"/>
              </a:p>
              <a:p>
                <a:pPr lvl="1"/>
                <a:endParaRPr lang="en-US" dirty="0"/>
              </a:p>
            </p:txBody>
          </p:sp>
        </mc:Choice>
        <mc:Fallback xmlns="">
          <p:sp>
            <p:nvSpPr>
              <p:cNvPr id="3" name="Text Placeholder 2">
                <a:extLst>
                  <a:ext uri="{FF2B5EF4-FFF2-40B4-BE49-F238E27FC236}">
                    <a16:creationId xmlns:a16="http://schemas.microsoft.com/office/drawing/2014/main" id="{1456C8F0-9894-CD98-5DBE-A4ABACC61740}"/>
                  </a:ext>
                </a:extLst>
              </p:cNvPr>
              <p:cNvSpPr>
                <a:spLocks noGrp="1" noRot="1" noChangeAspect="1" noMove="1" noResize="1" noEditPoints="1" noAdjustHandles="1" noChangeArrowheads="1" noChangeShapeType="1" noTextEdit="1"/>
              </p:cNvSpPr>
              <p:nvPr>
                <p:ph type="body" idx="1"/>
              </p:nvPr>
            </p:nvSpPr>
            <p:spPr>
              <a:xfrm>
                <a:off x="415600" y="1664160"/>
                <a:ext cx="11360800" cy="4403600"/>
              </a:xfrm>
              <a:blipFill>
                <a:blip r:embed="rId2"/>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9B0FFD66-F586-80C4-D097-B6E24932E9CD}"/>
              </a:ext>
            </a:extLst>
          </p:cNvPr>
          <p:cNvCxnSpPr>
            <a:cxnSpLocks/>
            <a:endCxn id="35" idx="3"/>
          </p:cNvCxnSpPr>
          <p:nvPr/>
        </p:nvCxnSpPr>
        <p:spPr>
          <a:xfrm flipV="1">
            <a:off x="5100777" y="3895203"/>
            <a:ext cx="706936" cy="61615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98AFBC1E-37E4-61BF-1F08-25D4DA9E89C8}"/>
              </a:ext>
            </a:extLst>
          </p:cNvPr>
          <p:cNvCxnSpPr>
            <a:cxnSpLocks/>
          </p:cNvCxnSpPr>
          <p:nvPr/>
        </p:nvCxnSpPr>
        <p:spPr>
          <a:xfrm flipV="1">
            <a:off x="5898219" y="3499540"/>
            <a:ext cx="680484" cy="3136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6082D79-2853-BD0C-787B-CACA8EAD3D6C}"/>
              </a:ext>
            </a:extLst>
          </p:cNvPr>
          <p:cNvCxnSpPr>
            <a:cxnSpLocks/>
            <a:stCxn id="36" idx="6"/>
            <a:endCxn id="34" idx="1"/>
          </p:cNvCxnSpPr>
          <p:nvPr/>
        </p:nvCxnSpPr>
        <p:spPr>
          <a:xfrm>
            <a:off x="6621234" y="3435135"/>
            <a:ext cx="823643" cy="3518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30E307B5-0EFB-1CC0-9257-247826875DBD}"/>
              </a:ext>
            </a:extLst>
          </p:cNvPr>
          <p:cNvCxnSpPr>
            <a:cxnSpLocks/>
            <a:stCxn id="34" idx="3"/>
            <a:endCxn id="37" idx="6"/>
          </p:cNvCxnSpPr>
          <p:nvPr/>
        </p:nvCxnSpPr>
        <p:spPr>
          <a:xfrm flipH="1">
            <a:off x="5153940" y="3865960"/>
            <a:ext cx="2290937" cy="6746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B8E28F8-D7F8-3AC7-D8D0-48C87DA446C1}"/>
              </a:ext>
            </a:extLst>
          </p:cNvPr>
          <p:cNvCxnSpPr>
            <a:cxnSpLocks/>
            <a:stCxn id="34" idx="2"/>
            <a:endCxn id="36" idx="4"/>
          </p:cNvCxnSpPr>
          <p:nvPr/>
        </p:nvCxnSpPr>
        <p:spPr>
          <a:xfrm flipH="1" flipV="1">
            <a:off x="6568071" y="3490956"/>
            <a:ext cx="861235" cy="33553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81D37781-91C3-FBDE-B4D7-4E2173874C7C}"/>
              </a:ext>
            </a:extLst>
          </p:cNvPr>
          <p:cNvSpPr/>
          <p:nvPr/>
        </p:nvSpPr>
        <p:spPr>
          <a:xfrm>
            <a:off x="7429306" y="3770668"/>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78159281-7A42-0FB1-78EE-293E4A0E56E4}"/>
              </a:ext>
            </a:extLst>
          </p:cNvPr>
          <p:cNvSpPr/>
          <p:nvPr/>
        </p:nvSpPr>
        <p:spPr>
          <a:xfrm>
            <a:off x="5792142" y="3799911"/>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0495DAC4-FE3A-0FCA-3A0B-9FADDAEDB7E7}"/>
              </a:ext>
            </a:extLst>
          </p:cNvPr>
          <p:cNvSpPr/>
          <p:nvPr/>
        </p:nvSpPr>
        <p:spPr>
          <a:xfrm>
            <a:off x="6514908" y="3379314"/>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3004235-C699-4165-779B-F58C034954B0}"/>
              </a:ext>
            </a:extLst>
          </p:cNvPr>
          <p:cNvSpPr/>
          <p:nvPr/>
        </p:nvSpPr>
        <p:spPr>
          <a:xfrm>
            <a:off x="5047614" y="4484782"/>
            <a:ext cx="106326" cy="111642"/>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5119CB65-A58A-F5D9-1676-28FF787D08AE}"/>
              </a:ext>
            </a:extLst>
          </p:cNvPr>
          <p:cNvSpPr txBox="1"/>
          <p:nvPr/>
        </p:nvSpPr>
        <p:spPr>
          <a:xfrm>
            <a:off x="4500167" y="4386714"/>
            <a:ext cx="600610" cy="307777"/>
          </a:xfrm>
          <a:prstGeom prst="rect">
            <a:avLst/>
          </a:prstGeom>
          <a:noFill/>
        </p:spPr>
        <p:txBody>
          <a:bodyPr wrap="square" rtlCol="0">
            <a:spAutoFit/>
          </a:bodyPr>
          <a:lstStyle/>
          <a:p>
            <a:r>
              <a:rPr lang="en-US" dirty="0"/>
              <a:t>Jack</a:t>
            </a:r>
          </a:p>
        </p:txBody>
      </p:sp>
      <p:sp>
        <p:nvSpPr>
          <p:cNvPr id="48" name="TextBox 47">
            <a:extLst>
              <a:ext uri="{FF2B5EF4-FFF2-40B4-BE49-F238E27FC236}">
                <a16:creationId xmlns:a16="http://schemas.microsoft.com/office/drawing/2014/main" id="{9754FCE5-E7B9-08E2-31A6-74CF45F91255}"/>
              </a:ext>
            </a:extLst>
          </p:cNvPr>
          <p:cNvSpPr txBox="1"/>
          <p:nvPr/>
        </p:nvSpPr>
        <p:spPr>
          <a:xfrm>
            <a:off x="5378422" y="3603776"/>
            <a:ext cx="600610" cy="307777"/>
          </a:xfrm>
          <a:prstGeom prst="rect">
            <a:avLst/>
          </a:prstGeom>
          <a:noFill/>
        </p:spPr>
        <p:txBody>
          <a:bodyPr wrap="square" rtlCol="0">
            <a:spAutoFit/>
          </a:bodyPr>
          <a:lstStyle/>
          <a:p>
            <a:r>
              <a:rPr lang="en-US" dirty="0"/>
              <a:t>Jill</a:t>
            </a:r>
          </a:p>
        </p:txBody>
      </p:sp>
      <p:sp>
        <p:nvSpPr>
          <p:cNvPr id="49" name="TextBox 48">
            <a:extLst>
              <a:ext uri="{FF2B5EF4-FFF2-40B4-BE49-F238E27FC236}">
                <a16:creationId xmlns:a16="http://schemas.microsoft.com/office/drawing/2014/main" id="{FB3B6CF4-3FD3-B675-56DC-B4A29069947E}"/>
              </a:ext>
            </a:extLst>
          </p:cNvPr>
          <p:cNvSpPr txBox="1"/>
          <p:nvPr/>
        </p:nvSpPr>
        <p:spPr>
          <a:xfrm>
            <a:off x="6096000" y="3191763"/>
            <a:ext cx="600610" cy="307777"/>
          </a:xfrm>
          <a:prstGeom prst="rect">
            <a:avLst/>
          </a:prstGeom>
          <a:noFill/>
        </p:spPr>
        <p:txBody>
          <a:bodyPr wrap="square" rtlCol="0">
            <a:spAutoFit/>
          </a:bodyPr>
          <a:lstStyle/>
          <a:p>
            <a:r>
              <a:rPr lang="en-US" dirty="0"/>
              <a:t>Joe</a:t>
            </a:r>
          </a:p>
        </p:txBody>
      </p:sp>
      <p:sp>
        <p:nvSpPr>
          <p:cNvPr id="50" name="TextBox 49">
            <a:extLst>
              <a:ext uri="{FF2B5EF4-FFF2-40B4-BE49-F238E27FC236}">
                <a16:creationId xmlns:a16="http://schemas.microsoft.com/office/drawing/2014/main" id="{9B8CA6AA-F906-BA25-12BA-02EB80F157D7}"/>
              </a:ext>
            </a:extLst>
          </p:cNvPr>
          <p:cNvSpPr txBox="1"/>
          <p:nvPr/>
        </p:nvSpPr>
        <p:spPr>
          <a:xfrm>
            <a:off x="7502614" y="3712071"/>
            <a:ext cx="797526" cy="307777"/>
          </a:xfrm>
          <a:prstGeom prst="rect">
            <a:avLst/>
          </a:prstGeom>
          <a:noFill/>
        </p:spPr>
        <p:txBody>
          <a:bodyPr wrap="square" rtlCol="0">
            <a:spAutoFit/>
          </a:bodyPr>
          <a:lstStyle/>
          <a:p>
            <a:r>
              <a:rPr lang="en-US" dirty="0"/>
              <a:t>Jared</a:t>
            </a:r>
          </a:p>
        </p:txBody>
      </p:sp>
      <p:cxnSp>
        <p:nvCxnSpPr>
          <p:cNvPr id="5" name="Straight Arrow Connector 4">
            <a:extLst>
              <a:ext uri="{FF2B5EF4-FFF2-40B4-BE49-F238E27FC236}">
                <a16:creationId xmlns:a16="http://schemas.microsoft.com/office/drawing/2014/main" id="{997064DE-6CB1-C515-3544-0400EC7F08D8}"/>
              </a:ext>
            </a:extLst>
          </p:cNvPr>
          <p:cNvCxnSpPr/>
          <p:nvPr/>
        </p:nvCxnSpPr>
        <p:spPr>
          <a:xfrm flipH="1">
            <a:off x="7138684" y="3191763"/>
            <a:ext cx="808075" cy="299193"/>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6" name="TextBox 5">
            <a:extLst>
              <a:ext uri="{FF2B5EF4-FFF2-40B4-BE49-F238E27FC236}">
                <a16:creationId xmlns:a16="http://schemas.microsoft.com/office/drawing/2014/main" id="{007A5AAB-DEB8-5371-48E2-0EA5494AC106}"/>
              </a:ext>
            </a:extLst>
          </p:cNvPr>
          <p:cNvSpPr txBox="1"/>
          <p:nvPr/>
        </p:nvSpPr>
        <p:spPr>
          <a:xfrm>
            <a:off x="7946759" y="2976320"/>
            <a:ext cx="2998381" cy="523220"/>
          </a:xfrm>
          <a:prstGeom prst="rect">
            <a:avLst/>
          </a:prstGeom>
          <a:noFill/>
          <a:ln w="19050">
            <a:solidFill>
              <a:schemeClr val="accent2"/>
            </a:solidFill>
          </a:ln>
        </p:spPr>
        <p:txBody>
          <a:bodyPr wrap="square" rtlCol="0">
            <a:spAutoFit/>
          </a:bodyPr>
          <a:lstStyle/>
          <a:p>
            <a:r>
              <a:rPr lang="en-US" dirty="0"/>
              <a:t>Looks like Joe and Jared follow each other!</a:t>
            </a:r>
          </a:p>
        </p:txBody>
      </p:sp>
      <p:sp>
        <p:nvSpPr>
          <p:cNvPr id="7" name="TextBox 6">
            <a:extLst>
              <a:ext uri="{FF2B5EF4-FFF2-40B4-BE49-F238E27FC236}">
                <a16:creationId xmlns:a16="http://schemas.microsoft.com/office/drawing/2014/main" id="{370C6BC1-2660-4662-0E97-E129BCA46EBE}"/>
              </a:ext>
            </a:extLst>
          </p:cNvPr>
          <p:cNvSpPr txBox="1"/>
          <p:nvPr/>
        </p:nvSpPr>
        <p:spPr>
          <a:xfrm>
            <a:off x="4853643" y="4617124"/>
            <a:ext cx="759654" cy="307777"/>
          </a:xfrm>
          <a:prstGeom prst="rect">
            <a:avLst/>
          </a:prstGeom>
          <a:noFill/>
        </p:spPr>
        <p:txBody>
          <a:bodyPr wrap="square" rtlCol="0">
            <a:spAutoFit/>
          </a:bodyPr>
          <a:lstStyle/>
          <a:p>
            <a:r>
              <a:rPr lang="en-US" dirty="0"/>
              <a:t>Jack</a:t>
            </a:r>
          </a:p>
        </p:txBody>
      </p:sp>
      <p:sp>
        <p:nvSpPr>
          <p:cNvPr id="8" name="TextBox 7">
            <a:extLst>
              <a:ext uri="{FF2B5EF4-FFF2-40B4-BE49-F238E27FC236}">
                <a16:creationId xmlns:a16="http://schemas.microsoft.com/office/drawing/2014/main" id="{949D8263-2CA1-F896-E7C6-920E3ECC9C25}"/>
              </a:ext>
            </a:extLst>
          </p:cNvPr>
          <p:cNvSpPr txBox="1"/>
          <p:nvPr/>
        </p:nvSpPr>
        <p:spPr>
          <a:xfrm>
            <a:off x="4436370" y="5091189"/>
            <a:ext cx="600610" cy="307777"/>
          </a:xfrm>
          <a:prstGeom prst="rect">
            <a:avLst/>
          </a:prstGeom>
          <a:noFill/>
        </p:spPr>
        <p:txBody>
          <a:bodyPr wrap="square" rtlCol="0">
            <a:spAutoFit/>
          </a:bodyPr>
          <a:lstStyle/>
          <a:p>
            <a:r>
              <a:rPr lang="en-US" dirty="0"/>
              <a:t>Jill</a:t>
            </a:r>
          </a:p>
        </p:txBody>
      </p:sp>
      <p:sp>
        <p:nvSpPr>
          <p:cNvPr id="9" name="TextBox 8">
            <a:extLst>
              <a:ext uri="{FF2B5EF4-FFF2-40B4-BE49-F238E27FC236}">
                <a16:creationId xmlns:a16="http://schemas.microsoft.com/office/drawing/2014/main" id="{BE69D888-91DF-63B8-57F5-356157A6CF95}"/>
              </a:ext>
            </a:extLst>
          </p:cNvPr>
          <p:cNvSpPr txBox="1"/>
          <p:nvPr/>
        </p:nvSpPr>
        <p:spPr>
          <a:xfrm>
            <a:off x="4436370" y="5353766"/>
            <a:ext cx="600610" cy="307777"/>
          </a:xfrm>
          <a:prstGeom prst="rect">
            <a:avLst/>
          </a:prstGeom>
          <a:noFill/>
        </p:spPr>
        <p:txBody>
          <a:bodyPr wrap="square" rtlCol="0">
            <a:spAutoFit/>
          </a:bodyPr>
          <a:lstStyle/>
          <a:p>
            <a:r>
              <a:rPr lang="en-US" dirty="0"/>
              <a:t>Joe</a:t>
            </a:r>
          </a:p>
        </p:txBody>
      </p:sp>
      <p:sp>
        <p:nvSpPr>
          <p:cNvPr id="10" name="TextBox 9">
            <a:extLst>
              <a:ext uri="{FF2B5EF4-FFF2-40B4-BE49-F238E27FC236}">
                <a16:creationId xmlns:a16="http://schemas.microsoft.com/office/drawing/2014/main" id="{72F26AF1-17C5-BD8E-6B64-183239F7B637}"/>
              </a:ext>
            </a:extLst>
          </p:cNvPr>
          <p:cNvSpPr txBox="1"/>
          <p:nvPr/>
        </p:nvSpPr>
        <p:spPr>
          <a:xfrm>
            <a:off x="4378712" y="5655128"/>
            <a:ext cx="759654" cy="307777"/>
          </a:xfrm>
          <a:prstGeom prst="rect">
            <a:avLst/>
          </a:prstGeom>
          <a:noFill/>
        </p:spPr>
        <p:txBody>
          <a:bodyPr wrap="square" rtlCol="0">
            <a:spAutoFit/>
          </a:bodyPr>
          <a:lstStyle/>
          <a:p>
            <a:r>
              <a:rPr lang="en-US" dirty="0"/>
              <a:t>Jared</a:t>
            </a:r>
          </a:p>
        </p:txBody>
      </p:sp>
      <p:sp>
        <p:nvSpPr>
          <p:cNvPr id="11" name="TextBox 10">
            <a:extLst>
              <a:ext uri="{FF2B5EF4-FFF2-40B4-BE49-F238E27FC236}">
                <a16:creationId xmlns:a16="http://schemas.microsoft.com/office/drawing/2014/main" id="{200FE317-14FC-FFFC-52C6-47574B6A5E92}"/>
              </a:ext>
            </a:extLst>
          </p:cNvPr>
          <p:cNvSpPr txBox="1"/>
          <p:nvPr/>
        </p:nvSpPr>
        <p:spPr>
          <a:xfrm>
            <a:off x="4430924" y="4831556"/>
            <a:ext cx="759654" cy="307777"/>
          </a:xfrm>
          <a:prstGeom prst="rect">
            <a:avLst/>
          </a:prstGeom>
          <a:noFill/>
        </p:spPr>
        <p:txBody>
          <a:bodyPr wrap="square" rtlCol="0">
            <a:spAutoFit/>
          </a:bodyPr>
          <a:lstStyle/>
          <a:p>
            <a:r>
              <a:rPr lang="en-US" dirty="0"/>
              <a:t>Jack</a:t>
            </a:r>
          </a:p>
        </p:txBody>
      </p:sp>
      <p:sp>
        <p:nvSpPr>
          <p:cNvPr id="12" name="TextBox 11">
            <a:extLst>
              <a:ext uri="{FF2B5EF4-FFF2-40B4-BE49-F238E27FC236}">
                <a16:creationId xmlns:a16="http://schemas.microsoft.com/office/drawing/2014/main" id="{441BC656-3DC2-2D31-DCDE-BF58C20ABC12}"/>
              </a:ext>
            </a:extLst>
          </p:cNvPr>
          <p:cNvSpPr txBox="1"/>
          <p:nvPr/>
        </p:nvSpPr>
        <p:spPr>
          <a:xfrm>
            <a:off x="5319368" y="4617123"/>
            <a:ext cx="759654" cy="307777"/>
          </a:xfrm>
          <a:prstGeom prst="rect">
            <a:avLst/>
          </a:prstGeom>
          <a:noFill/>
        </p:spPr>
        <p:txBody>
          <a:bodyPr wrap="square" rtlCol="0">
            <a:spAutoFit/>
          </a:bodyPr>
          <a:lstStyle/>
          <a:p>
            <a:r>
              <a:rPr lang="en-US" dirty="0"/>
              <a:t>Jill</a:t>
            </a:r>
          </a:p>
        </p:txBody>
      </p:sp>
      <p:sp>
        <p:nvSpPr>
          <p:cNvPr id="13" name="TextBox 12">
            <a:extLst>
              <a:ext uri="{FF2B5EF4-FFF2-40B4-BE49-F238E27FC236}">
                <a16:creationId xmlns:a16="http://schemas.microsoft.com/office/drawing/2014/main" id="{C308D47E-C10E-81BE-D4C1-E22B16A3CC86}"/>
              </a:ext>
            </a:extLst>
          </p:cNvPr>
          <p:cNvSpPr txBox="1"/>
          <p:nvPr/>
        </p:nvSpPr>
        <p:spPr>
          <a:xfrm>
            <a:off x="5994912" y="4617123"/>
            <a:ext cx="759654" cy="307777"/>
          </a:xfrm>
          <a:prstGeom prst="rect">
            <a:avLst/>
          </a:prstGeom>
          <a:noFill/>
        </p:spPr>
        <p:txBody>
          <a:bodyPr wrap="square" rtlCol="0">
            <a:spAutoFit/>
          </a:bodyPr>
          <a:lstStyle/>
          <a:p>
            <a:r>
              <a:rPr lang="en-US" dirty="0"/>
              <a:t>Jared</a:t>
            </a:r>
          </a:p>
        </p:txBody>
      </p:sp>
      <p:sp>
        <p:nvSpPr>
          <p:cNvPr id="15" name="TextBox 14">
            <a:extLst>
              <a:ext uri="{FF2B5EF4-FFF2-40B4-BE49-F238E27FC236}">
                <a16:creationId xmlns:a16="http://schemas.microsoft.com/office/drawing/2014/main" id="{5EDA8391-2BF5-1597-EF4A-E31D99020A4E}"/>
              </a:ext>
            </a:extLst>
          </p:cNvPr>
          <p:cNvSpPr txBox="1"/>
          <p:nvPr/>
        </p:nvSpPr>
        <p:spPr>
          <a:xfrm>
            <a:off x="5635875" y="4617123"/>
            <a:ext cx="759654" cy="307777"/>
          </a:xfrm>
          <a:prstGeom prst="rect">
            <a:avLst/>
          </a:prstGeom>
          <a:noFill/>
        </p:spPr>
        <p:txBody>
          <a:bodyPr wrap="square" rtlCol="0">
            <a:spAutoFit/>
          </a:bodyPr>
          <a:lstStyle/>
          <a:p>
            <a:r>
              <a:rPr lang="en-US" dirty="0"/>
              <a:t>Joe</a:t>
            </a:r>
          </a:p>
        </p:txBody>
      </p:sp>
    </p:spTree>
    <p:extLst>
      <p:ext uri="{BB962C8B-B14F-4D97-AF65-F5344CB8AC3E}">
        <p14:creationId xmlns:p14="http://schemas.microsoft.com/office/powerpoint/2010/main" val="214286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11"/>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P spid="13"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63A1B-05F3-1366-5F9A-985B8499A1EA}"/>
              </a:ext>
            </a:extLst>
          </p:cNvPr>
          <p:cNvSpPr>
            <a:spLocks noGrp="1"/>
          </p:cNvSpPr>
          <p:nvPr>
            <p:ph type="title"/>
          </p:nvPr>
        </p:nvSpPr>
        <p:spPr/>
        <p:txBody>
          <a:bodyPr/>
          <a:lstStyle/>
          <a:p>
            <a:r>
              <a:rPr lang="en-US" dirty="0"/>
              <a:t>Other types of data</a:t>
            </a:r>
          </a:p>
        </p:txBody>
      </p:sp>
      <p:sp>
        <p:nvSpPr>
          <p:cNvPr id="3" name="Text Placeholder 2">
            <a:extLst>
              <a:ext uri="{FF2B5EF4-FFF2-40B4-BE49-F238E27FC236}">
                <a16:creationId xmlns:a16="http://schemas.microsoft.com/office/drawing/2014/main" id="{6E15CF34-1072-B31C-1352-992935F7E466}"/>
              </a:ext>
            </a:extLst>
          </p:cNvPr>
          <p:cNvSpPr>
            <a:spLocks noGrp="1"/>
          </p:cNvSpPr>
          <p:nvPr>
            <p:ph type="body" idx="1"/>
          </p:nvPr>
        </p:nvSpPr>
        <p:spPr/>
        <p:txBody>
          <a:bodyPr/>
          <a:lstStyle/>
          <a:p>
            <a:r>
              <a:rPr lang="en-US" dirty="0"/>
              <a:t>Images</a:t>
            </a:r>
          </a:p>
          <a:p>
            <a:pPr lvl="1"/>
            <a:r>
              <a:rPr lang="en-US" dirty="0"/>
              <a:t>E.g., a matrix of pixels</a:t>
            </a:r>
          </a:p>
          <a:p>
            <a:r>
              <a:rPr lang="en-US" dirty="0"/>
              <a:t>Text</a:t>
            </a:r>
          </a:p>
          <a:p>
            <a:pPr lvl="1"/>
            <a:r>
              <a:rPr lang="en-US" dirty="0"/>
              <a:t>E.g., list of words</a:t>
            </a:r>
          </a:p>
          <a:p>
            <a:r>
              <a:rPr lang="en-US" dirty="0"/>
              <a:t>Corpus of documents</a:t>
            </a:r>
          </a:p>
          <a:p>
            <a:pPr marL="152396" indent="0">
              <a:buNone/>
            </a:pPr>
            <a:endParaRPr lang="en-US" dirty="0"/>
          </a:p>
        </p:txBody>
      </p:sp>
    </p:spTree>
    <p:extLst>
      <p:ext uri="{BB962C8B-B14F-4D97-AF65-F5344CB8AC3E}">
        <p14:creationId xmlns:p14="http://schemas.microsoft.com/office/powerpoint/2010/main" val="127045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D2CC4-687D-0D4F-2A19-E0FE80CE5BB1}"/>
              </a:ext>
            </a:extLst>
          </p:cNvPr>
          <p:cNvSpPr>
            <a:spLocks noGrp="1"/>
          </p:cNvSpPr>
          <p:nvPr>
            <p:ph type="title"/>
          </p:nvPr>
        </p:nvSpPr>
        <p:spPr/>
        <p:txBody>
          <a:bodyPr/>
          <a:lstStyle/>
          <a:p>
            <a:r>
              <a:rPr lang="en-US" dirty="0"/>
              <a:t>How can we represent vectors and matrices when programming?</a:t>
            </a:r>
          </a:p>
        </p:txBody>
      </p:sp>
      <p:sp>
        <p:nvSpPr>
          <p:cNvPr id="3" name="Text Placeholder 2">
            <a:extLst>
              <a:ext uri="{FF2B5EF4-FFF2-40B4-BE49-F238E27FC236}">
                <a16:creationId xmlns:a16="http://schemas.microsoft.com/office/drawing/2014/main" id="{863350B8-4B52-8DE8-B648-DEF9D365E519}"/>
              </a:ext>
            </a:extLst>
          </p:cNvPr>
          <p:cNvSpPr>
            <a:spLocks noGrp="1"/>
          </p:cNvSpPr>
          <p:nvPr>
            <p:ph type="body" idx="1"/>
          </p:nvPr>
        </p:nvSpPr>
        <p:spPr/>
        <p:txBody>
          <a:bodyPr/>
          <a:lstStyle/>
          <a:p>
            <a:endParaRPr lang="en-US" dirty="0"/>
          </a:p>
          <a:p>
            <a:endParaRPr lang="en-US" dirty="0"/>
          </a:p>
          <a:p>
            <a:endParaRPr lang="en-US" dirty="0"/>
          </a:p>
          <a:p>
            <a:endParaRPr lang="en-US" dirty="0"/>
          </a:p>
          <a:p>
            <a:endParaRPr lang="en-US" dirty="0"/>
          </a:p>
          <a:p>
            <a:r>
              <a:rPr lang="en-US" dirty="0"/>
              <a:t>NumPy provides fast, memory-efficient data structures and math operations for working with arrays, vectors, and matrices.</a:t>
            </a:r>
          </a:p>
          <a:p>
            <a:pPr lvl="1"/>
            <a:r>
              <a:rPr lang="en-US" dirty="0"/>
              <a:t>NumPy is compiled in C!</a:t>
            </a:r>
          </a:p>
          <a:p>
            <a:pPr lvl="1"/>
            <a:r>
              <a:rPr lang="en-US" dirty="0"/>
              <a:t>We can do vectorized math in NumPy as opposed to Python itself which would require us to use loops. </a:t>
            </a:r>
          </a:p>
          <a:p>
            <a:pPr lvl="1"/>
            <a:r>
              <a:rPr lang="en-US" dirty="0"/>
              <a:t>NumPy includes linear algebra functionality, statistics, and serves as the foundation for any sort of math we do in Python</a:t>
            </a:r>
          </a:p>
          <a:p>
            <a:pPr lvl="2"/>
            <a:r>
              <a:rPr lang="en-US" dirty="0"/>
              <a:t>E.g. image processing, machine learning, etc.</a:t>
            </a:r>
          </a:p>
        </p:txBody>
      </p:sp>
      <p:pic>
        <p:nvPicPr>
          <p:cNvPr id="5" name="Picture 4">
            <a:extLst>
              <a:ext uri="{FF2B5EF4-FFF2-40B4-BE49-F238E27FC236}">
                <a16:creationId xmlns:a16="http://schemas.microsoft.com/office/drawing/2014/main" id="{506EB930-E839-48BE-513B-F27F80BAC73A}"/>
              </a:ext>
            </a:extLst>
          </p:cNvPr>
          <p:cNvPicPr>
            <a:picLocks noChangeAspect="1"/>
          </p:cNvPicPr>
          <p:nvPr/>
        </p:nvPicPr>
        <p:blipFill>
          <a:blip r:embed="rId2"/>
          <a:stretch>
            <a:fillRect/>
          </a:stretch>
        </p:blipFill>
        <p:spPr>
          <a:xfrm>
            <a:off x="415599" y="1688433"/>
            <a:ext cx="11360801" cy="1371558"/>
          </a:xfrm>
          <a:prstGeom prst="rect">
            <a:avLst/>
          </a:prstGeom>
        </p:spPr>
      </p:pic>
    </p:spTree>
    <p:extLst>
      <p:ext uri="{BB962C8B-B14F-4D97-AF65-F5344CB8AC3E}">
        <p14:creationId xmlns:p14="http://schemas.microsoft.com/office/powerpoint/2010/main" val="4002971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2EA6E-0BBC-3201-60ED-1A8DF16B9CD9}"/>
              </a:ext>
            </a:extLst>
          </p:cNvPr>
          <p:cNvSpPr>
            <a:spLocks noGrp="1"/>
          </p:cNvSpPr>
          <p:nvPr>
            <p:ph type="title"/>
          </p:nvPr>
        </p:nvSpPr>
        <p:spPr/>
        <p:txBody>
          <a:bodyPr/>
          <a:lstStyle/>
          <a:p>
            <a:r>
              <a:rPr lang="en-US" dirty="0"/>
              <a:t>Recall: Learning</a:t>
            </a:r>
          </a:p>
        </p:txBody>
      </p:sp>
      <p:sp>
        <p:nvSpPr>
          <p:cNvPr id="3" name="Text Placeholder 2">
            <a:extLst>
              <a:ext uri="{FF2B5EF4-FFF2-40B4-BE49-F238E27FC236}">
                <a16:creationId xmlns:a16="http://schemas.microsoft.com/office/drawing/2014/main" id="{BDE3667F-F074-F527-9E7B-E6D04323BC9C}"/>
              </a:ext>
            </a:extLst>
          </p:cNvPr>
          <p:cNvSpPr>
            <a:spLocks noGrp="1"/>
          </p:cNvSpPr>
          <p:nvPr>
            <p:ph type="body" idx="1"/>
          </p:nvPr>
        </p:nvSpPr>
        <p:spPr/>
        <p:txBody>
          <a:bodyPr>
            <a:normAutofit fontScale="85000" lnSpcReduction="20000"/>
          </a:bodyPr>
          <a:lstStyle/>
          <a:p>
            <a:r>
              <a:rPr lang="en-US" dirty="0"/>
              <a:t>Learning: algorithms are trained on data (e.g., Facebook user behavior) to learn general rules or patterns, allowing them to predict future outcomes (e.g., what ads will the user most likely be interested in) or classify new data.</a:t>
            </a:r>
          </a:p>
          <a:p>
            <a:r>
              <a:rPr lang="en-US" dirty="0"/>
              <a:t>Supervised vs. Unsupervised Learning</a:t>
            </a:r>
          </a:p>
          <a:p>
            <a:pPr lvl="1"/>
            <a:r>
              <a:rPr lang="en-US" dirty="0"/>
              <a:t>Unsupervised Learning</a:t>
            </a:r>
          </a:p>
          <a:p>
            <a:pPr lvl="2"/>
            <a:r>
              <a:rPr lang="en-US" dirty="0"/>
              <a:t>Finding patterns in potentially unlabeled data</a:t>
            </a:r>
          </a:p>
          <a:p>
            <a:pPr lvl="2"/>
            <a:r>
              <a:rPr lang="en-US" dirty="0"/>
              <a:t>Goals: </a:t>
            </a:r>
          </a:p>
          <a:p>
            <a:pPr lvl="3"/>
            <a:r>
              <a:rPr lang="en-US" dirty="0"/>
              <a:t>find interesting structure in the data. For example, clustering algorithms!</a:t>
            </a:r>
          </a:p>
          <a:p>
            <a:pPr lvl="3"/>
            <a:r>
              <a:rPr lang="en-US" dirty="0"/>
              <a:t>Better understand/describe the data (possibly through data exploration and visualization)</a:t>
            </a:r>
          </a:p>
          <a:p>
            <a:pPr lvl="3"/>
            <a:r>
              <a:rPr lang="en-US" dirty="0"/>
              <a:t>Extract features</a:t>
            </a:r>
          </a:p>
          <a:p>
            <a:pPr lvl="3"/>
            <a:r>
              <a:rPr lang="en-US" dirty="0"/>
              <a:t>Fill gaps in data</a:t>
            </a:r>
          </a:p>
          <a:p>
            <a:pPr lvl="3"/>
            <a:r>
              <a:rPr lang="en-US" dirty="0"/>
              <a:t>Make learning algorithms faster</a:t>
            </a:r>
          </a:p>
          <a:p>
            <a:pPr lvl="4"/>
            <a:r>
              <a:rPr lang="en-US" dirty="0"/>
              <a:t>Get rid of noise!</a:t>
            </a:r>
          </a:p>
          <a:p>
            <a:pPr lvl="1"/>
            <a:r>
              <a:rPr lang="en-US" dirty="0"/>
              <a:t>Supervised learning</a:t>
            </a:r>
          </a:p>
          <a:p>
            <a:pPr lvl="2"/>
            <a:r>
              <a:rPr lang="en-US" dirty="0"/>
              <a:t>Learning from labeled data (e.g. our social media network assuming each profile has more dimensions)</a:t>
            </a:r>
          </a:p>
          <a:p>
            <a:pPr lvl="2"/>
            <a:r>
              <a:rPr lang="en-US" dirty="0"/>
              <a:t>Examples include regression, classification, support vector machines, decision trees, etc.</a:t>
            </a:r>
          </a:p>
          <a:p>
            <a:pPr lvl="3"/>
            <a:r>
              <a:rPr lang="en-US" dirty="0"/>
              <a:t>We could use classification to predict whether an email is spam! We could use regression for weather forecasting</a:t>
            </a:r>
          </a:p>
          <a:p>
            <a:pPr lvl="2"/>
            <a:endParaRPr lang="en-US" dirty="0"/>
          </a:p>
          <a:p>
            <a:pPr lvl="2"/>
            <a:endParaRPr lang="en-US" dirty="0"/>
          </a:p>
        </p:txBody>
      </p:sp>
    </p:spTree>
    <p:extLst>
      <p:ext uri="{BB962C8B-B14F-4D97-AF65-F5344CB8AC3E}">
        <p14:creationId xmlns:p14="http://schemas.microsoft.com/office/powerpoint/2010/main" val="248139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dissolv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dissolve">
                                      <p:cBhvr>
                                        <p:cTn id="15" dur="500"/>
                                        <p:tgtEl>
                                          <p:spTgt spid="3">
                                            <p:txEl>
                                              <p:pRg st="5" end="5"/>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dissolve">
                                      <p:cBhvr>
                                        <p:cTn id="18" dur="500"/>
                                        <p:tgtEl>
                                          <p:spTgt spid="3">
                                            <p:txEl>
                                              <p:pRg st="6" end="6"/>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dissolve">
                                      <p:cBhvr>
                                        <p:cTn id="21" dur="500"/>
                                        <p:tgtEl>
                                          <p:spTgt spid="3">
                                            <p:txEl>
                                              <p:pRg st="7" end="7"/>
                                            </p:txEl>
                                          </p:spTgt>
                                        </p:tgtEl>
                                      </p:cBhvr>
                                    </p:animEffect>
                                  </p:childTnLst>
                                </p:cTn>
                              </p:par>
                              <p:par>
                                <p:cTn id="22" presetID="9" presetClass="entr" presetSubtype="0"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dissolve">
                                      <p:cBhvr>
                                        <p:cTn id="24" dur="500"/>
                                        <p:tgtEl>
                                          <p:spTgt spid="3">
                                            <p:txEl>
                                              <p:pRg st="8" end="8"/>
                                            </p:txEl>
                                          </p:spTgt>
                                        </p:tgtEl>
                                      </p:cBhvr>
                                    </p:animEffect>
                                  </p:childTnLst>
                                </p:cTn>
                              </p:par>
                              <p:par>
                                <p:cTn id="25" presetID="9" presetClass="entr" presetSubtype="0"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Effect transition="in" filter="dissolve">
                                      <p:cBhvr>
                                        <p:cTn id="27" dur="500"/>
                                        <p:tgtEl>
                                          <p:spTgt spid="3">
                                            <p:txEl>
                                              <p:pRg st="9" end="9"/>
                                            </p:txEl>
                                          </p:spTgt>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dissolve">
                                      <p:cBhvr>
                                        <p:cTn id="30" dur="500"/>
                                        <p:tgtEl>
                                          <p:spTgt spid="3">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dissolve">
                                      <p:cBhvr>
                                        <p:cTn id="35" dur="500"/>
                                        <p:tgtEl>
                                          <p:spTgt spid="3">
                                            <p:txEl>
                                              <p:pRg st="11" end="11"/>
                                            </p:txEl>
                                          </p:spTgt>
                                        </p:tgtEl>
                                      </p:cBhvr>
                                    </p:animEffect>
                                  </p:childTnLst>
                                </p:cTn>
                              </p:par>
                              <p:par>
                                <p:cTn id="36" presetID="9" presetClass="entr" presetSubtype="0" fill="hold" nodeType="withEffect">
                                  <p:stCondLst>
                                    <p:cond delay="0"/>
                                  </p:stCondLst>
                                  <p:childTnLst>
                                    <p:set>
                                      <p:cBhvr>
                                        <p:cTn id="37" dur="1" fill="hold">
                                          <p:stCondLst>
                                            <p:cond delay="0"/>
                                          </p:stCondLst>
                                        </p:cTn>
                                        <p:tgtEl>
                                          <p:spTgt spid="3">
                                            <p:txEl>
                                              <p:pRg st="12" end="12"/>
                                            </p:txEl>
                                          </p:spTgt>
                                        </p:tgtEl>
                                        <p:attrNameLst>
                                          <p:attrName>style.visibility</p:attrName>
                                        </p:attrNameLst>
                                      </p:cBhvr>
                                      <p:to>
                                        <p:strVal val="visible"/>
                                      </p:to>
                                    </p:set>
                                    <p:animEffect transition="in" filter="dissolve">
                                      <p:cBhvr>
                                        <p:cTn id="38" dur="500"/>
                                        <p:tgtEl>
                                          <p:spTgt spid="3">
                                            <p:txEl>
                                              <p:pRg st="12" end="12"/>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9" presetClass="entr" presetSubtype="0" fill="hold"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Effect transition="in" filter="dissolve">
                                      <p:cBhvr>
                                        <p:cTn id="43" dur="500"/>
                                        <p:tgtEl>
                                          <p:spTgt spid="3">
                                            <p:txEl>
                                              <p:pRg st="13" end="13"/>
                                            </p:txEl>
                                          </p:spTgt>
                                        </p:tgtEl>
                                      </p:cBhvr>
                                    </p:animEffect>
                                  </p:childTnLst>
                                </p:cTn>
                              </p:par>
                              <p:par>
                                <p:cTn id="44" presetID="9" presetClass="entr" presetSubtype="0" fill="hold" nodeType="withEffect">
                                  <p:stCondLst>
                                    <p:cond delay="0"/>
                                  </p:stCondLst>
                                  <p:childTnLst>
                                    <p:set>
                                      <p:cBhvr>
                                        <p:cTn id="45" dur="1" fill="hold">
                                          <p:stCondLst>
                                            <p:cond delay="0"/>
                                          </p:stCondLst>
                                        </p:cTn>
                                        <p:tgtEl>
                                          <p:spTgt spid="3">
                                            <p:txEl>
                                              <p:pRg st="14" end="14"/>
                                            </p:txEl>
                                          </p:spTgt>
                                        </p:tgtEl>
                                        <p:attrNameLst>
                                          <p:attrName>style.visibility</p:attrName>
                                        </p:attrNameLst>
                                      </p:cBhvr>
                                      <p:to>
                                        <p:strVal val="visible"/>
                                      </p:to>
                                    </p:set>
                                    <p:animEffect transition="in" filter="dissolve">
                                      <p:cBhvr>
                                        <p:cTn id="46"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8A6C6-2720-6052-F890-71BAE298D7CB}"/>
              </a:ext>
            </a:extLst>
          </p:cNvPr>
          <p:cNvSpPr>
            <a:spLocks noGrp="1"/>
          </p:cNvSpPr>
          <p:nvPr>
            <p:ph type="title"/>
          </p:nvPr>
        </p:nvSpPr>
        <p:spPr/>
        <p:txBody>
          <a:bodyPr/>
          <a:lstStyle/>
          <a:p>
            <a:r>
              <a:rPr lang="en-US" dirty="0"/>
              <a:t>Clustering</a:t>
            </a:r>
          </a:p>
        </p:txBody>
      </p:sp>
      <p:pic>
        <p:nvPicPr>
          <p:cNvPr id="5" name="Picture 4" descr="A diagram of a diagram of a green circle and a green circle&#10;&#10;AI-generated content may be incorrect.">
            <a:extLst>
              <a:ext uri="{FF2B5EF4-FFF2-40B4-BE49-F238E27FC236}">
                <a16:creationId xmlns:a16="http://schemas.microsoft.com/office/drawing/2014/main" id="{4757D9F5-30D9-03E4-FD84-51AF51A90D9B}"/>
              </a:ext>
            </a:extLst>
          </p:cNvPr>
          <p:cNvPicPr>
            <a:picLocks noChangeAspect="1"/>
          </p:cNvPicPr>
          <p:nvPr/>
        </p:nvPicPr>
        <p:blipFill>
          <a:blip r:embed="rId2"/>
          <a:stretch>
            <a:fillRect/>
          </a:stretch>
        </p:blipFill>
        <p:spPr>
          <a:xfrm>
            <a:off x="2209800" y="2131533"/>
            <a:ext cx="7772400" cy="2989384"/>
          </a:xfrm>
          <a:prstGeom prst="rect">
            <a:avLst/>
          </a:prstGeom>
        </p:spPr>
      </p:pic>
      <p:sp>
        <p:nvSpPr>
          <p:cNvPr id="6" name="TextBox 5">
            <a:extLst>
              <a:ext uri="{FF2B5EF4-FFF2-40B4-BE49-F238E27FC236}">
                <a16:creationId xmlns:a16="http://schemas.microsoft.com/office/drawing/2014/main" id="{EFC1684A-F1EE-462C-3EE5-6AFDE87CD40F}"/>
              </a:ext>
            </a:extLst>
          </p:cNvPr>
          <p:cNvSpPr txBox="1"/>
          <p:nvPr/>
        </p:nvSpPr>
        <p:spPr>
          <a:xfrm>
            <a:off x="2317898" y="4901609"/>
            <a:ext cx="3540642" cy="307777"/>
          </a:xfrm>
          <a:prstGeom prst="rect">
            <a:avLst/>
          </a:prstGeom>
          <a:noFill/>
        </p:spPr>
        <p:txBody>
          <a:bodyPr wrap="square" rtlCol="0">
            <a:spAutoFit/>
          </a:bodyPr>
          <a:lstStyle/>
          <a:p>
            <a:pPr algn="ctr"/>
            <a:r>
              <a:rPr lang="en-US" dirty="0"/>
              <a:t>Before clustering</a:t>
            </a:r>
          </a:p>
        </p:txBody>
      </p:sp>
      <p:sp>
        <p:nvSpPr>
          <p:cNvPr id="8" name="TextBox 7">
            <a:extLst>
              <a:ext uri="{FF2B5EF4-FFF2-40B4-BE49-F238E27FC236}">
                <a16:creationId xmlns:a16="http://schemas.microsoft.com/office/drawing/2014/main" id="{0A4DB6FC-E84A-0915-4188-E1293F98F865}"/>
              </a:ext>
            </a:extLst>
          </p:cNvPr>
          <p:cNvSpPr txBox="1"/>
          <p:nvPr/>
        </p:nvSpPr>
        <p:spPr>
          <a:xfrm>
            <a:off x="5175398" y="4901609"/>
            <a:ext cx="6097772" cy="307777"/>
          </a:xfrm>
          <a:prstGeom prst="rect">
            <a:avLst/>
          </a:prstGeom>
          <a:noFill/>
        </p:spPr>
        <p:txBody>
          <a:bodyPr wrap="square">
            <a:spAutoFit/>
          </a:bodyPr>
          <a:lstStyle/>
          <a:p>
            <a:pPr algn="ctr"/>
            <a:r>
              <a:rPr lang="en-US" dirty="0"/>
              <a:t>After clustering</a:t>
            </a:r>
          </a:p>
        </p:txBody>
      </p:sp>
      <p:sp>
        <p:nvSpPr>
          <p:cNvPr id="10" name="Text Placeholder 2">
            <a:extLst>
              <a:ext uri="{FF2B5EF4-FFF2-40B4-BE49-F238E27FC236}">
                <a16:creationId xmlns:a16="http://schemas.microsoft.com/office/drawing/2014/main" id="{8D21AA21-7305-68B9-4CAB-18290F3D450C}"/>
              </a:ext>
            </a:extLst>
          </p:cNvPr>
          <p:cNvSpPr>
            <a:spLocks noGrp="1"/>
          </p:cNvSpPr>
          <p:nvPr>
            <p:ph type="body" idx="1"/>
          </p:nvPr>
        </p:nvSpPr>
        <p:spPr>
          <a:xfrm>
            <a:off x="415600" y="5517162"/>
            <a:ext cx="11360800" cy="730781"/>
          </a:xfrm>
        </p:spPr>
        <p:txBody>
          <a:bodyPr>
            <a:normAutofit/>
          </a:bodyPr>
          <a:lstStyle/>
          <a:p>
            <a:pPr marL="152396" indent="0">
              <a:buNone/>
            </a:pPr>
            <a:r>
              <a:rPr lang="en-US" dirty="0"/>
              <a:t>Question: at a high level, how are points grouped together? </a:t>
            </a:r>
          </a:p>
        </p:txBody>
      </p:sp>
    </p:spTree>
    <p:extLst>
      <p:ext uri="{BB962C8B-B14F-4D97-AF65-F5344CB8AC3E}">
        <p14:creationId xmlns:p14="http://schemas.microsoft.com/office/powerpoint/2010/main" val="1696797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C6803-DEA1-2C3F-55D3-467B30B64D67}"/>
              </a:ext>
            </a:extLst>
          </p:cNvPr>
          <p:cNvSpPr>
            <a:spLocks noGrp="1"/>
          </p:cNvSpPr>
          <p:nvPr>
            <p:ph type="title"/>
          </p:nvPr>
        </p:nvSpPr>
        <p:spPr/>
        <p:txBody>
          <a:bodyPr/>
          <a:lstStyle/>
          <a:p>
            <a:r>
              <a:rPr lang="en-US" dirty="0"/>
              <a:t>Dissimilarity </a:t>
            </a:r>
          </a:p>
        </p:txBody>
      </p:sp>
      <p:sp>
        <p:nvSpPr>
          <p:cNvPr id="3" name="Text Placeholder 2">
            <a:extLst>
              <a:ext uri="{FF2B5EF4-FFF2-40B4-BE49-F238E27FC236}">
                <a16:creationId xmlns:a16="http://schemas.microsoft.com/office/drawing/2014/main" id="{9ED65005-C2D5-C300-7A51-0E0DD1527DF5}"/>
              </a:ext>
            </a:extLst>
          </p:cNvPr>
          <p:cNvSpPr>
            <a:spLocks noGrp="1"/>
          </p:cNvSpPr>
          <p:nvPr>
            <p:ph type="body" idx="1"/>
          </p:nvPr>
        </p:nvSpPr>
        <p:spPr/>
        <p:txBody>
          <a:bodyPr/>
          <a:lstStyle/>
          <a:p>
            <a:r>
              <a:rPr lang="en-US" dirty="0"/>
              <a:t>Dissimilarity function takes two objects as input and returns a high value if those objects are dissimilar. </a:t>
            </a:r>
          </a:p>
          <a:p>
            <a:endParaRPr lang="en-US" dirty="0"/>
          </a:p>
          <a:p>
            <a:endParaRPr lang="en-US" dirty="0"/>
          </a:p>
          <a:p>
            <a:endParaRPr lang="en-US" dirty="0"/>
          </a:p>
          <a:p>
            <a:endParaRPr lang="en-US" dirty="0"/>
          </a:p>
          <a:p>
            <a:endParaRPr lang="en-US" dirty="0"/>
          </a:p>
          <a:p>
            <a:endParaRPr lang="en-US" dirty="0"/>
          </a:p>
          <a:p>
            <a:endParaRPr lang="en-US" dirty="0"/>
          </a:p>
          <a:p>
            <a:pPr marL="152396" indent="0">
              <a:buNone/>
            </a:pPr>
            <a:r>
              <a:rPr lang="en-US" dirty="0"/>
              <a:t>		    </a:t>
            </a:r>
            <a:r>
              <a:rPr lang="en-US" i="1" dirty="0" err="1"/>
              <a:t>dsim</a:t>
            </a:r>
            <a:r>
              <a:rPr lang="en-US" i="1" dirty="0"/>
              <a:t>(</a:t>
            </a:r>
            <a:r>
              <a:rPr lang="en-US" i="1" dirty="0" err="1"/>
              <a:t>a,b</a:t>
            </a:r>
            <a:r>
              <a:rPr lang="en-US" i="1" dirty="0"/>
              <a:t>) is “small”                                             </a:t>
            </a:r>
            <a:r>
              <a:rPr lang="en-US" i="1" dirty="0" err="1"/>
              <a:t>dsim</a:t>
            </a:r>
            <a:r>
              <a:rPr lang="en-US" i="1" dirty="0"/>
              <a:t>(</a:t>
            </a:r>
            <a:r>
              <a:rPr lang="en-US" i="1" dirty="0" err="1"/>
              <a:t>a,b</a:t>
            </a:r>
            <a:r>
              <a:rPr lang="en-US" i="1" dirty="0"/>
              <a:t>) is “large”</a:t>
            </a:r>
            <a:endParaRPr lang="en-US" dirty="0"/>
          </a:p>
        </p:txBody>
      </p:sp>
      <p:cxnSp>
        <p:nvCxnSpPr>
          <p:cNvPr id="5" name="Straight Arrow Connector 4">
            <a:extLst>
              <a:ext uri="{FF2B5EF4-FFF2-40B4-BE49-F238E27FC236}">
                <a16:creationId xmlns:a16="http://schemas.microsoft.com/office/drawing/2014/main" id="{1313FD5C-67F4-5EC5-DDCC-4016CF178121}"/>
              </a:ext>
            </a:extLst>
          </p:cNvPr>
          <p:cNvCxnSpPr>
            <a:cxnSpLocks/>
          </p:cNvCxnSpPr>
          <p:nvPr/>
        </p:nvCxnSpPr>
        <p:spPr>
          <a:xfrm flipV="1">
            <a:off x="2604977" y="2854842"/>
            <a:ext cx="0" cy="1621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1CB7F15-1D4E-0D1A-1FFC-69931A084F95}"/>
              </a:ext>
            </a:extLst>
          </p:cNvPr>
          <p:cNvCxnSpPr>
            <a:cxnSpLocks/>
          </p:cNvCxnSpPr>
          <p:nvPr/>
        </p:nvCxnSpPr>
        <p:spPr>
          <a:xfrm>
            <a:off x="2604977" y="4476307"/>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E3FC1E7-80AC-F6CC-5670-45ADF8CDBDB2}"/>
              </a:ext>
            </a:extLst>
          </p:cNvPr>
          <p:cNvCxnSpPr/>
          <p:nvPr/>
        </p:nvCxnSpPr>
        <p:spPr>
          <a:xfrm flipV="1">
            <a:off x="2604977" y="3211033"/>
            <a:ext cx="754912" cy="126527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2" name="Straight Arrow Connector 11">
            <a:extLst>
              <a:ext uri="{FF2B5EF4-FFF2-40B4-BE49-F238E27FC236}">
                <a16:creationId xmlns:a16="http://schemas.microsoft.com/office/drawing/2014/main" id="{47D8346E-D09E-4758-26A2-8AAFF21566F6}"/>
              </a:ext>
            </a:extLst>
          </p:cNvPr>
          <p:cNvCxnSpPr>
            <a:cxnSpLocks/>
          </p:cNvCxnSpPr>
          <p:nvPr/>
        </p:nvCxnSpPr>
        <p:spPr>
          <a:xfrm flipV="1">
            <a:off x="2604976" y="3444949"/>
            <a:ext cx="1010094" cy="1038048"/>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5" name="TextBox 14">
            <a:extLst>
              <a:ext uri="{FF2B5EF4-FFF2-40B4-BE49-F238E27FC236}">
                <a16:creationId xmlns:a16="http://schemas.microsoft.com/office/drawing/2014/main" id="{0814AE93-06A6-3A71-FCC6-18F1B5410F0E}"/>
              </a:ext>
            </a:extLst>
          </p:cNvPr>
          <p:cNvSpPr txBox="1"/>
          <p:nvPr/>
        </p:nvSpPr>
        <p:spPr>
          <a:xfrm>
            <a:off x="3264196" y="2966263"/>
            <a:ext cx="239232" cy="307777"/>
          </a:xfrm>
          <a:prstGeom prst="rect">
            <a:avLst/>
          </a:prstGeom>
          <a:noFill/>
        </p:spPr>
        <p:txBody>
          <a:bodyPr wrap="square" rtlCol="0">
            <a:spAutoFit/>
          </a:bodyPr>
          <a:lstStyle/>
          <a:p>
            <a:r>
              <a:rPr lang="en-US" dirty="0"/>
              <a:t>A</a:t>
            </a:r>
          </a:p>
        </p:txBody>
      </p:sp>
      <p:sp>
        <p:nvSpPr>
          <p:cNvPr id="16" name="TextBox 15">
            <a:extLst>
              <a:ext uri="{FF2B5EF4-FFF2-40B4-BE49-F238E27FC236}">
                <a16:creationId xmlns:a16="http://schemas.microsoft.com/office/drawing/2014/main" id="{8EA6A080-2F34-A71D-2D32-04D4A9A47C7C}"/>
              </a:ext>
            </a:extLst>
          </p:cNvPr>
          <p:cNvSpPr txBox="1"/>
          <p:nvPr/>
        </p:nvSpPr>
        <p:spPr>
          <a:xfrm>
            <a:off x="3567224" y="3221050"/>
            <a:ext cx="239232" cy="307777"/>
          </a:xfrm>
          <a:prstGeom prst="rect">
            <a:avLst/>
          </a:prstGeom>
          <a:noFill/>
        </p:spPr>
        <p:txBody>
          <a:bodyPr wrap="square" rtlCol="0">
            <a:spAutoFit/>
          </a:bodyPr>
          <a:lstStyle/>
          <a:p>
            <a:r>
              <a:rPr lang="en-US" dirty="0"/>
              <a:t>B</a:t>
            </a:r>
          </a:p>
        </p:txBody>
      </p:sp>
      <p:cxnSp>
        <p:nvCxnSpPr>
          <p:cNvPr id="17" name="Straight Arrow Connector 16">
            <a:extLst>
              <a:ext uri="{FF2B5EF4-FFF2-40B4-BE49-F238E27FC236}">
                <a16:creationId xmlns:a16="http://schemas.microsoft.com/office/drawing/2014/main" id="{F8E7CB4F-9FC6-BE1F-01F0-DAC45931593E}"/>
              </a:ext>
            </a:extLst>
          </p:cNvPr>
          <p:cNvCxnSpPr>
            <a:cxnSpLocks/>
          </p:cNvCxnSpPr>
          <p:nvPr/>
        </p:nvCxnSpPr>
        <p:spPr>
          <a:xfrm flipV="1">
            <a:off x="7145970" y="2844825"/>
            <a:ext cx="0" cy="1621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FD1DEC9-A43C-D0DB-4CEF-30A8D0635696}"/>
              </a:ext>
            </a:extLst>
          </p:cNvPr>
          <p:cNvCxnSpPr>
            <a:cxnSpLocks/>
          </p:cNvCxnSpPr>
          <p:nvPr/>
        </p:nvCxnSpPr>
        <p:spPr>
          <a:xfrm>
            <a:off x="7145970" y="4466290"/>
            <a:ext cx="17969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B25963C-ED65-72AE-D500-66F22F800B42}"/>
              </a:ext>
            </a:extLst>
          </p:cNvPr>
          <p:cNvCxnSpPr>
            <a:cxnSpLocks/>
          </p:cNvCxnSpPr>
          <p:nvPr/>
        </p:nvCxnSpPr>
        <p:spPr>
          <a:xfrm flipV="1">
            <a:off x="7145970" y="3201016"/>
            <a:ext cx="754912" cy="126527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20" name="Straight Arrow Connector 19">
            <a:extLst>
              <a:ext uri="{FF2B5EF4-FFF2-40B4-BE49-F238E27FC236}">
                <a16:creationId xmlns:a16="http://schemas.microsoft.com/office/drawing/2014/main" id="{CF8ACCAF-477F-29C4-2F43-01CD99F289F7}"/>
              </a:ext>
            </a:extLst>
          </p:cNvPr>
          <p:cNvCxnSpPr>
            <a:cxnSpLocks/>
          </p:cNvCxnSpPr>
          <p:nvPr/>
        </p:nvCxnSpPr>
        <p:spPr>
          <a:xfrm>
            <a:off x="7145969" y="4472980"/>
            <a:ext cx="1345903" cy="11910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1" name="TextBox 20">
            <a:extLst>
              <a:ext uri="{FF2B5EF4-FFF2-40B4-BE49-F238E27FC236}">
                <a16:creationId xmlns:a16="http://schemas.microsoft.com/office/drawing/2014/main" id="{B0121ACE-442F-1569-6BC5-13D5786F04C3}"/>
              </a:ext>
            </a:extLst>
          </p:cNvPr>
          <p:cNvSpPr txBox="1"/>
          <p:nvPr/>
        </p:nvSpPr>
        <p:spPr>
          <a:xfrm>
            <a:off x="7805189" y="2956246"/>
            <a:ext cx="239232" cy="307777"/>
          </a:xfrm>
          <a:prstGeom prst="rect">
            <a:avLst/>
          </a:prstGeom>
          <a:noFill/>
        </p:spPr>
        <p:txBody>
          <a:bodyPr wrap="square" rtlCol="0">
            <a:spAutoFit/>
          </a:bodyPr>
          <a:lstStyle/>
          <a:p>
            <a:r>
              <a:rPr lang="en-US" dirty="0"/>
              <a:t>A</a:t>
            </a:r>
          </a:p>
        </p:txBody>
      </p:sp>
      <p:sp>
        <p:nvSpPr>
          <p:cNvPr id="22" name="TextBox 21">
            <a:extLst>
              <a:ext uri="{FF2B5EF4-FFF2-40B4-BE49-F238E27FC236}">
                <a16:creationId xmlns:a16="http://schemas.microsoft.com/office/drawing/2014/main" id="{AA6F9473-F6BD-7AE1-99F8-6C1DED373FE5}"/>
              </a:ext>
            </a:extLst>
          </p:cNvPr>
          <p:cNvSpPr txBox="1"/>
          <p:nvPr/>
        </p:nvSpPr>
        <p:spPr>
          <a:xfrm>
            <a:off x="8444026" y="4438193"/>
            <a:ext cx="239232" cy="307777"/>
          </a:xfrm>
          <a:prstGeom prst="rect">
            <a:avLst/>
          </a:prstGeom>
          <a:noFill/>
        </p:spPr>
        <p:txBody>
          <a:bodyPr wrap="square" rtlCol="0">
            <a:spAutoFit/>
          </a:bodyPr>
          <a:lstStyle/>
          <a:p>
            <a:r>
              <a:rPr lang="en-US" dirty="0"/>
              <a:t>B</a:t>
            </a:r>
          </a:p>
        </p:txBody>
      </p:sp>
    </p:spTree>
    <p:extLst>
      <p:ext uri="{BB962C8B-B14F-4D97-AF65-F5344CB8AC3E}">
        <p14:creationId xmlns:p14="http://schemas.microsoft.com/office/powerpoint/2010/main" val="2582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par>
                                <p:cTn id="8" presetID="9"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par>
                                <p:cTn id="11" presetID="9"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par>
                                <p:cTn id="14" presetID="9"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dissolve">
                                      <p:cBhvr>
                                        <p:cTn id="19" dur="500"/>
                                        <p:tgtEl>
                                          <p:spTgt spid="15"/>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dissolve">
                                      <p:cBhvr>
                                        <p:cTn id="22" dur="500"/>
                                        <p:tgtEl>
                                          <p:spTgt spid="16"/>
                                        </p:tgtEl>
                                      </p:cBhvr>
                                    </p:animEffect>
                                  </p:childTnLst>
                                </p:cTn>
                              </p:par>
                              <p:par>
                                <p:cTn id="23" presetID="9"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dissolve">
                                      <p:cBhvr>
                                        <p:cTn id="25" dur="500"/>
                                        <p:tgtEl>
                                          <p:spTgt spid="17"/>
                                        </p:tgtEl>
                                      </p:cBhvr>
                                    </p:animEffect>
                                  </p:childTnLst>
                                </p:cTn>
                              </p:par>
                              <p:par>
                                <p:cTn id="26" presetID="9"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dissolve">
                                      <p:cBhvr>
                                        <p:cTn id="28" dur="500"/>
                                        <p:tgtEl>
                                          <p:spTgt spid="18"/>
                                        </p:tgtEl>
                                      </p:cBhvr>
                                    </p:animEffect>
                                  </p:childTnLst>
                                </p:cTn>
                              </p:par>
                              <p:par>
                                <p:cTn id="29" presetID="9"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dissolve">
                                      <p:cBhvr>
                                        <p:cTn id="31" dur="500"/>
                                        <p:tgtEl>
                                          <p:spTgt spid="19"/>
                                        </p:tgtEl>
                                      </p:cBhvr>
                                    </p:animEffect>
                                  </p:childTnLst>
                                </p:cTn>
                              </p:par>
                              <p:par>
                                <p:cTn id="32" presetID="9"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dissolve">
                                      <p:cBhvr>
                                        <p:cTn id="34" dur="500"/>
                                        <p:tgtEl>
                                          <p:spTgt spid="20"/>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dissolve">
                                      <p:cBhvr>
                                        <p:cTn id="37" dur="500"/>
                                        <p:tgtEl>
                                          <p:spTgt spid="21"/>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dissolve">
                                      <p:cBhvr>
                                        <p:cTn id="40" dur="500"/>
                                        <p:tgtEl>
                                          <p:spTgt spid="22"/>
                                        </p:tgtEl>
                                      </p:cBhvr>
                                    </p:animEffect>
                                  </p:childTnLst>
                                </p:cTn>
                              </p:par>
                              <p:par>
                                <p:cTn id="41" presetID="9" presetClass="entr" presetSubtype="0" fill="hold"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dissolve">
                                      <p:cBhvr>
                                        <p:cTn id="4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21"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A5CE905F-FFB0-773F-3A02-A236D580A60F}"/>
                  </a:ext>
                </a:extLst>
              </p:cNvPr>
              <p:cNvSpPr>
                <a:spLocks noGrp="1"/>
              </p:cNvSpPr>
              <p:nvPr>
                <p:ph type="body" idx="1"/>
              </p:nvPr>
            </p:nvSpPr>
            <p:spPr>
              <a:xfrm>
                <a:off x="415600" y="1688433"/>
                <a:ext cx="11360800" cy="4893120"/>
              </a:xfrm>
            </p:spPr>
            <p:txBody>
              <a:bodyPr/>
              <a:lstStyle/>
              <a:p>
                <a:r>
                  <a:rPr lang="en-US" dirty="0"/>
                  <a:t>A type of dissimilarity function is a distance function</a:t>
                </a:r>
              </a:p>
              <a:p>
                <a:r>
                  <a:rPr lang="en-US" i="1" dirty="0"/>
                  <a:t>d </a:t>
                </a:r>
                <a:r>
                  <a:rPr lang="en-US" dirty="0"/>
                  <a:t>is a distance function </a:t>
                </a:r>
                <a:r>
                  <a:rPr lang="en-US" i="1" dirty="0"/>
                  <a:t>i.f.f.</a:t>
                </a:r>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=0⟺</m:t>
                    </m:r>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endParaRPr lang="en-US" b="0" i="1" dirty="0">
                  <a:latin typeface="Cambria Math" panose="02040503050406030204" pitchFamily="18" charset="0"/>
                </a:endParaRPr>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𝑖</m:t>
                        </m:r>
                      </m:e>
                    </m:d>
                  </m:oMath>
                </a14:m>
                <a:endParaRPr lang="en-US" b="0" dirty="0"/>
              </a:p>
              <a:p>
                <a:pPr marL="1253047" lvl="1" indent="-457200">
                  <a:buFont typeface="+mj-lt"/>
                  <a:buAutoNum type="arabicPeriod"/>
                </a:pP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𝑗</m:t>
                        </m:r>
                      </m:e>
                    </m:d>
                  </m:oMath>
                </a14:m>
                <a:r>
                  <a:rPr lang="en-US" b="0" dirty="0"/>
                  <a:t> (triangle inequality)</a:t>
                </a:r>
              </a:p>
              <a:p>
                <a:pPr marL="795847" lvl="1" indent="0">
                  <a:buNone/>
                </a:pPr>
                <a:r>
                  <a:rPr lang="en-US" b="0" dirty="0"/>
                  <a:t>e.g.</a:t>
                </a:r>
              </a:p>
              <a:p>
                <a:pPr marL="643462" indent="-457200">
                  <a:buFont typeface="+mj-lt"/>
                  <a:buAutoNum type="arabicPeriod"/>
                </a:pPr>
                <a:endParaRPr lang="en-US" dirty="0"/>
              </a:p>
              <a:p>
                <a:pPr marL="643462" indent="-457200">
                  <a:buFont typeface="+mj-lt"/>
                  <a:buAutoNum type="arabicPeriod"/>
                </a:pPr>
                <a:endParaRPr lang="en-US" b="0" dirty="0"/>
              </a:p>
              <a:p>
                <a:pPr marL="643462" indent="-457200">
                  <a:buFont typeface="+mj-lt"/>
                  <a:buAutoNum type="arabicPeriod"/>
                </a:pPr>
                <a:endParaRPr lang="en-US" dirty="0"/>
              </a:p>
              <a:p>
                <a:pPr marL="186262" indent="0">
                  <a:buNone/>
                </a:pPr>
                <a:endParaRPr lang="en-US" b="0" dirty="0"/>
              </a:p>
              <a:p>
                <a:pPr marL="186262" indent="0">
                  <a:buNone/>
                </a:pPr>
                <a:endParaRPr lang="en-US" dirty="0"/>
              </a:p>
              <a:p>
                <a:pPr marL="186262" indent="0">
                  <a:buNone/>
                </a:pPr>
                <a:endParaRPr lang="en-US" b="0" dirty="0"/>
              </a:p>
              <a:p>
                <a:pPr marL="186262" indent="0">
                  <a:buNone/>
                </a:pPr>
                <a:endParaRPr lang="en-US" dirty="0"/>
              </a:p>
              <a:p>
                <a:pPr marL="472012" indent="-285750"/>
                <a:r>
                  <a:rPr lang="en-US" dirty="0"/>
                  <a:t>Euclidean distance: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r>
                      <a:rPr lang="en-US" b="0" i="1" smtClean="0">
                        <a:latin typeface="Cambria Math" panose="02040503050406030204" pitchFamily="18" charset="0"/>
                      </a:rPr>
                      <m:t>≤1+1</m:t>
                    </m:r>
                  </m:oMath>
                </a14:m>
                <a:endParaRPr lang="en-US" b="0" dirty="0"/>
              </a:p>
              <a:p>
                <a:pPr marL="1253047" lvl="1" indent="-457200">
                  <a:buFont typeface="+mj-lt"/>
                  <a:buAutoNum type="arabicPeriod"/>
                </a:pPr>
                <a:endParaRPr lang="en-US" dirty="0"/>
              </a:p>
            </p:txBody>
          </p:sp>
        </mc:Choice>
        <mc:Fallback xmlns="">
          <p:sp>
            <p:nvSpPr>
              <p:cNvPr id="3" name="Text Placeholder 2">
                <a:extLst>
                  <a:ext uri="{FF2B5EF4-FFF2-40B4-BE49-F238E27FC236}">
                    <a16:creationId xmlns:a16="http://schemas.microsoft.com/office/drawing/2014/main" id="{A5CE905F-FFB0-773F-3A02-A236D580A60F}"/>
                  </a:ext>
                </a:extLst>
              </p:cNvPr>
              <p:cNvSpPr>
                <a:spLocks noGrp="1" noRot="1" noChangeAspect="1" noMove="1" noResize="1" noEditPoints="1" noAdjustHandles="1" noChangeArrowheads="1" noChangeShapeType="1" noTextEdit="1"/>
              </p:cNvSpPr>
              <p:nvPr>
                <p:ph type="body" idx="1"/>
              </p:nvPr>
            </p:nvSpPr>
            <p:spPr>
              <a:xfrm>
                <a:off x="415600" y="1688433"/>
                <a:ext cx="11360800" cy="4893120"/>
              </a:xfrm>
              <a:blipFill>
                <a:blip r:embed="rId2"/>
                <a:stretch>
                  <a:fillRect/>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15BC7097-6864-E42E-8EC6-EE0789426E2A}"/>
              </a:ext>
            </a:extLst>
          </p:cNvPr>
          <p:cNvSpPr>
            <a:spLocks noGrp="1"/>
          </p:cNvSpPr>
          <p:nvPr>
            <p:ph type="title"/>
          </p:nvPr>
        </p:nvSpPr>
        <p:spPr/>
        <p:txBody>
          <a:bodyPr/>
          <a:lstStyle/>
          <a:p>
            <a:r>
              <a:rPr lang="en-US" dirty="0"/>
              <a:t>Distance Functions</a:t>
            </a:r>
          </a:p>
        </p:txBody>
      </p:sp>
      <p:cxnSp>
        <p:nvCxnSpPr>
          <p:cNvPr id="7" name="Straight Arrow Connector 6">
            <a:extLst>
              <a:ext uri="{FF2B5EF4-FFF2-40B4-BE49-F238E27FC236}">
                <a16:creationId xmlns:a16="http://schemas.microsoft.com/office/drawing/2014/main" id="{C1123564-65C8-8327-8FFB-532490F1CD27}"/>
              </a:ext>
            </a:extLst>
          </p:cNvPr>
          <p:cNvCxnSpPr/>
          <p:nvPr/>
        </p:nvCxnSpPr>
        <p:spPr>
          <a:xfrm flipV="1">
            <a:off x="2211572" y="3817088"/>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69060B9-87A6-833D-5865-330FDFC545D5}"/>
              </a:ext>
            </a:extLst>
          </p:cNvPr>
          <p:cNvCxnSpPr/>
          <p:nvPr/>
        </p:nvCxnSpPr>
        <p:spPr>
          <a:xfrm>
            <a:off x="2211572" y="5443870"/>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37D5F002-6A99-A54F-A5C5-99E6DBA6E498}"/>
              </a:ext>
            </a:extLst>
          </p:cNvPr>
          <p:cNvSpPr/>
          <p:nvPr/>
        </p:nvSpPr>
        <p:spPr>
          <a:xfrm>
            <a:off x="2197751" y="542101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A817522D-5AD3-CCD4-6CF9-1C906B1FF536}"/>
              </a:ext>
            </a:extLst>
          </p:cNvPr>
          <p:cNvSpPr/>
          <p:nvPr/>
        </p:nvSpPr>
        <p:spPr>
          <a:xfrm>
            <a:off x="3285822" y="4552682"/>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62BF700-3359-63D7-0AA5-5D97F74660CF}"/>
              </a:ext>
            </a:extLst>
          </p:cNvPr>
          <p:cNvSpPr/>
          <p:nvPr/>
        </p:nvSpPr>
        <p:spPr>
          <a:xfrm>
            <a:off x="2194209" y="4545587"/>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111E164-65FD-B7C6-0271-4A71E86B6E80}"/>
                  </a:ext>
                </a:extLst>
              </p:cNvPr>
              <p:cNvSpPr txBox="1"/>
              <p:nvPr/>
            </p:nvSpPr>
            <p:spPr>
              <a:xfrm>
                <a:off x="1382232" y="4414557"/>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13" name="TextBox 12">
                <a:extLst>
                  <a:ext uri="{FF2B5EF4-FFF2-40B4-BE49-F238E27FC236}">
                    <a16:creationId xmlns:a16="http://schemas.microsoft.com/office/drawing/2014/main" id="{A111E164-65FD-B7C6-0271-4A71E86B6E80}"/>
                  </a:ext>
                </a:extLst>
              </p:cNvPr>
              <p:cNvSpPr txBox="1">
                <a:spLocks noRot="1" noChangeAspect="1" noMove="1" noResize="1" noEditPoints="1" noAdjustHandles="1" noChangeArrowheads="1" noChangeShapeType="1" noTextEdit="1"/>
              </p:cNvSpPr>
              <p:nvPr/>
            </p:nvSpPr>
            <p:spPr>
              <a:xfrm>
                <a:off x="1382232" y="4414557"/>
                <a:ext cx="1052621" cy="307777"/>
              </a:xfrm>
              <a:prstGeom prst="rect">
                <a:avLst/>
              </a:prstGeom>
              <a:blipFill>
                <a:blip r:embed="rId3"/>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02B33E9-D5E0-E7DD-6573-B1CB8F4B1EA0}"/>
                  </a:ext>
                </a:extLst>
              </p:cNvPr>
              <p:cNvSpPr txBox="1"/>
              <p:nvPr/>
            </p:nvSpPr>
            <p:spPr>
              <a:xfrm>
                <a:off x="1382232" y="526712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a:p>
            </p:txBody>
          </p:sp>
        </mc:Choice>
        <mc:Fallback xmlns="">
          <p:sp>
            <p:nvSpPr>
              <p:cNvPr id="14" name="TextBox 13">
                <a:extLst>
                  <a:ext uri="{FF2B5EF4-FFF2-40B4-BE49-F238E27FC236}">
                    <a16:creationId xmlns:a16="http://schemas.microsoft.com/office/drawing/2014/main" id="{902B33E9-D5E0-E7DD-6573-B1CB8F4B1EA0}"/>
                  </a:ext>
                </a:extLst>
              </p:cNvPr>
              <p:cNvSpPr txBox="1">
                <a:spLocks noRot="1" noChangeAspect="1" noMove="1" noResize="1" noEditPoints="1" noAdjustHandles="1" noChangeArrowheads="1" noChangeShapeType="1" noTextEdit="1"/>
              </p:cNvSpPr>
              <p:nvPr/>
            </p:nvSpPr>
            <p:spPr>
              <a:xfrm>
                <a:off x="1382232" y="5267123"/>
                <a:ext cx="1052621" cy="307777"/>
              </a:xfrm>
              <a:prstGeom prst="rect">
                <a:avLst/>
              </a:prstGeom>
              <a:blipFill>
                <a:blip r:embed="rId4"/>
                <a:stretch>
                  <a:fillRect t="-3846"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6989A224-8803-F3C9-150E-75669DBC7558}"/>
                  </a:ext>
                </a:extLst>
              </p:cNvPr>
              <p:cNvSpPr txBox="1"/>
              <p:nvPr/>
            </p:nvSpPr>
            <p:spPr>
              <a:xfrm>
                <a:off x="2759511" y="423781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15" name="TextBox 14">
                <a:extLst>
                  <a:ext uri="{FF2B5EF4-FFF2-40B4-BE49-F238E27FC236}">
                    <a16:creationId xmlns:a16="http://schemas.microsoft.com/office/drawing/2014/main" id="{6989A224-8803-F3C9-150E-75669DBC7558}"/>
                  </a:ext>
                </a:extLst>
              </p:cNvPr>
              <p:cNvSpPr txBox="1">
                <a:spLocks noRot="1" noChangeAspect="1" noMove="1" noResize="1" noEditPoints="1" noAdjustHandles="1" noChangeArrowheads="1" noChangeShapeType="1" noTextEdit="1"/>
              </p:cNvSpPr>
              <p:nvPr/>
            </p:nvSpPr>
            <p:spPr>
              <a:xfrm>
                <a:off x="2759511" y="4237810"/>
                <a:ext cx="1052621" cy="307777"/>
              </a:xfrm>
              <a:prstGeom prst="rect">
                <a:avLst/>
              </a:prstGeom>
              <a:blipFill>
                <a:blip r:embed="rId5"/>
                <a:stretch>
                  <a:fillRect t="-3846" b="-1538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325B5A6F-C433-2CB6-220A-9E428737D93A}"/>
              </a:ext>
            </a:extLst>
          </p:cNvPr>
          <p:cNvCxnSpPr>
            <a:endCxn id="15" idx="2"/>
          </p:cNvCxnSpPr>
          <p:nvPr/>
        </p:nvCxnSpPr>
        <p:spPr>
          <a:xfrm flipV="1">
            <a:off x="2239928" y="4545587"/>
            <a:ext cx="1045894" cy="87542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8" name="Straight Arrow Connector 17">
            <a:extLst>
              <a:ext uri="{FF2B5EF4-FFF2-40B4-BE49-F238E27FC236}">
                <a16:creationId xmlns:a16="http://schemas.microsoft.com/office/drawing/2014/main" id="{22617222-CAB6-EDEA-1E38-A51710695868}"/>
              </a:ext>
            </a:extLst>
          </p:cNvPr>
          <p:cNvCxnSpPr>
            <a:cxnSpLocks/>
          </p:cNvCxnSpPr>
          <p:nvPr/>
        </p:nvCxnSpPr>
        <p:spPr>
          <a:xfrm flipV="1">
            <a:off x="2257291" y="4615140"/>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3" name="Straight Arrow Connector 22">
            <a:extLst>
              <a:ext uri="{FF2B5EF4-FFF2-40B4-BE49-F238E27FC236}">
                <a16:creationId xmlns:a16="http://schemas.microsoft.com/office/drawing/2014/main" id="{2C187276-B63C-A087-5E9B-C96ADE6ECAD3}"/>
              </a:ext>
            </a:extLst>
          </p:cNvPr>
          <p:cNvCxnSpPr/>
          <p:nvPr/>
        </p:nvCxnSpPr>
        <p:spPr>
          <a:xfrm flipV="1">
            <a:off x="2257291" y="4552682"/>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24216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dissolve">
                                      <p:cBhvr>
                                        <p:cTn id="7" dur="500"/>
                                        <p:tgtEl>
                                          <p:spTgt spid="3">
                                            <p:txEl>
                                              <p:pRg st="5" end="5"/>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dissolve">
                                      <p:cBhvr>
                                        <p:cTn id="10" dur="500"/>
                                        <p:tgtEl>
                                          <p:spTgt spid="7"/>
                                        </p:tgtEl>
                                      </p:cBhvr>
                                    </p:animEffect>
                                  </p:childTnLst>
                                </p:cTn>
                              </p:par>
                              <p:par>
                                <p:cTn id="11" presetID="9"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dissolve">
                                      <p:cBhvr>
                                        <p:cTn id="13" dur="500"/>
                                        <p:tgtEl>
                                          <p:spTgt spid="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dissolve">
                                      <p:cBhvr>
                                        <p:cTn id="16" dur="500"/>
                                        <p:tgtEl>
                                          <p:spTgt spid="1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dissolve">
                                      <p:cBhvr>
                                        <p:cTn id="19" dur="500"/>
                                        <p:tgtEl>
                                          <p:spTgt spid="11"/>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dissolve">
                                      <p:cBhvr>
                                        <p:cTn id="22" dur="500"/>
                                        <p:tgtEl>
                                          <p:spTgt spid="1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dissolve">
                                      <p:cBhvr>
                                        <p:cTn id="25" dur="500"/>
                                        <p:tgtEl>
                                          <p:spTgt spid="13"/>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dissolve">
                                      <p:cBhvr>
                                        <p:cTn id="28" dur="500"/>
                                        <p:tgtEl>
                                          <p:spTgt spid="1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dissolve">
                                      <p:cBhvr>
                                        <p:cTn id="31" dur="500"/>
                                        <p:tgtEl>
                                          <p:spTgt spid="15"/>
                                        </p:tgtEl>
                                      </p:cBhvr>
                                    </p:animEffect>
                                  </p:childTnLst>
                                </p:cTn>
                              </p:par>
                              <p:par>
                                <p:cTn id="32" presetID="9" presetClass="entr" presetSubtype="0" fill="hold" nodeType="with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dissolve">
                                      <p:cBhvr>
                                        <p:cTn id="34" dur="500"/>
                                        <p:tgtEl>
                                          <p:spTgt spid="7"/>
                                        </p:tgtEl>
                                      </p:cBhvr>
                                    </p:animEffect>
                                  </p:childTnLst>
                                </p:cTn>
                              </p:par>
                              <p:par>
                                <p:cTn id="35" presetID="9" presetClass="entr" presetSubtype="0" fill="hold"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dissolve">
                                      <p:cBhvr>
                                        <p:cTn id="40" dur="500"/>
                                        <p:tgtEl>
                                          <p:spTgt spid="10"/>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dissolve">
                                      <p:cBhvr>
                                        <p:cTn id="43" dur="500"/>
                                        <p:tgtEl>
                                          <p:spTgt spid="11"/>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dissolve">
                                      <p:cBhvr>
                                        <p:cTn id="46" dur="500"/>
                                        <p:tgtEl>
                                          <p:spTgt spid="12"/>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dissolve">
                                      <p:cBhvr>
                                        <p:cTn id="49" dur="500"/>
                                        <p:tgtEl>
                                          <p:spTgt spid="13"/>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dissolve">
                                      <p:cBhvr>
                                        <p:cTn id="52" dur="500"/>
                                        <p:tgtEl>
                                          <p:spTgt spid="14"/>
                                        </p:tgtEl>
                                      </p:cBhvr>
                                    </p:animEffect>
                                  </p:childTnLst>
                                </p:cTn>
                              </p:par>
                              <p:par>
                                <p:cTn id="53" presetID="9" presetClass="entr" presetSubtype="0" fill="hold" grpId="1" nodeType="with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dissolve">
                                      <p:cBhvr>
                                        <p:cTn id="55" dur="500"/>
                                        <p:tgtEl>
                                          <p:spTgt spid="15"/>
                                        </p:tgtEl>
                                      </p:cBhvr>
                                    </p:animEffect>
                                  </p:childTnLst>
                                </p:cTn>
                              </p:par>
                              <p:par>
                                <p:cTn id="56" presetID="9" presetClass="entr" presetSubtype="0" fill="hold" nodeType="with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dissolve">
                                      <p:cBhvr>
                                        <p:cTn id="58" dur="500"/>
                                        <p:tgtEl>
                                          <p:spTgt spid="17"/>
                                        </p:tgtEl>
                                      </p:cBhvr>
                                    </p:animEffect>
                                  </p:childTnLst>
                                </p:cTn>
                              </p:par>
                              <p:par>
                                <p:cTn id="59" presetID="9" presetClass="entr" presetSubtype="0" fill="hold"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dissolve">
                                      <p:cBhvr>
                                        <p:cTn id="61" dur="500"/>
                                        <p:tgtEl>
                                          <p:spTgt spid="18"/>
                                        </p:tgtEl>
                                      </p:cBhvr>
                                    </p:animEffect>
                                  </p:childTnLst>
                                </p:cTn>
                              </p:par>
                              <p:par>
                                <p:cTn id="62" presetID="9" presetClass="entr" presetSubtype="0" fill="hold"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dissolve">
                                      <p:cBhvr>
                                        <p:cTn id="64" dur="500"/>
                                        <p:tgtEl>
                                          <p:spTgt spid="23"/>
                                        </p:tgtEl>
                                      </p:cBhvr>
                                    </p:animEffect>
                                  </p:childTnLst>
                                </p:cTn>
                              </p:par>
                            </p:childTnLst>
                          </p:cTn>
                        </p:par>
                      </p:childTnLst>
                    </p:cTn>
                  </p:par>
                  <p:par>
                    <p:cTn id="65" fill="hold">
                      <p:stCondLst>
                        <p:cond delay="indefinite"/>
                      </p:stCondLst>
                      <p:childTnLst>
                        <p:par>
                          <p:cTn id="66" fill="hold">
                            <p:stCondLst>
                              <p:cond delay="0"/>
                            </p:stCondLst>
                            <p:childTnLst>
                              <p:par>
                                <p:cTn id="67" presetID="9" presetClass="entr" presetSubtype="0" fill="hold" nodeType="clickEffect">
                                  <p:stCondLst>
                                    <p:cond delay="0"/>
                                  </p:stCondLst>
                                  <p:childTnLst>
                                    <p:set>
                                      <p:cBhvr>
                                        <p:cTn id="68" dur="1" fill="hold">
                                          <p:stCondLst>
                                            <p:cond delay="0"/>
                                          </p:stCondLst>
                                        </p:cTn>
                                        <p:tgtEl>
                                          <p:spTgt spid="3">
                                            <p:txEl>
                                              <p:pRg st="13" end="13"/>
                                            </p:txEl>
                                          </p:spTgt>
                                        </p:tgtEl>
                                        <p:attrNameLst>
                                          <p:attrName>style.visibility</p:attrName>
                                        </p:attrNameLst>
                                      </p:cBhvr>
                                      <p:to>
                                        <p:strVal val="visible"/>
                                      </p:to>
                                    </p:set>
                                    <p:animEffect transition="in" filter="dissolve">
                                      <p:cBhvr>
                                        <p:cTn id="69"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p:bldP spid="13" grpId="1"/>
      <p:bldP spid="14" grpId="0"/>
      <p:bldP spid="14" grpId="1"/>
      <p:bldP spid="15" grpId="0"/>
      <p:bldP spid="15"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232ED-2E0E-6A48-FD7F-754E888591EE}"/>
              </a:ext>
            </a:extLst>
          </p:cNvPr>
          <p:cNvSpPr>
            <a:spLocks noGrp="1"/>
          </p:cNvSpPr>
          <p:nvPr>
            <p:ph type="title"/>
          </p:nvPr>
        </p:nvSpPr>
        <p:spPr/>
        <p:txBody>
          <a:bodyPr/>
          <a:lstStyle/>
          <a:p>
            <a:r>
              <a:rPr lang="en-US" dirty="0"/>
              <a:t>Minkowski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3ED9C37-3A57-60E1-AE0E-D34555C84F4E}"/>
                  </a:ext>
                </a:extLst>
              </p:cNvPr>
              <p:cNvSpPr>
                <a:spLocks noGrp="1"/>
              </p:cNvSpPr>
              <p:nvPr>
                <p:ph type="body" idx="1"/>
              </p:nvPr>
            </p:nvSpPr>
            <p:spPr/>
            <p:txBody>
              <a:bodyPr/>
              <a:lstStyle/>
              <a:p>
                <a:pPr marL="152396"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b="0" dirty="0"/>
                  <a:t>,</a:t>
                </a:r>
              </a:p>
              <a:p>
                <a:pPr marL="152396" indent="0">
                  <a:buNone/>
                </a:pP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𝑝</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𝑑</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𝑝</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sup>
                      </m:sSup>
                    </m:oMath>
                  </m:oMathPara>
                </a14:m>
                <a:endParaRPr lang="en-US" b="0" dirty="0"/>
              </a:p>
              <a:p>
                <a:pPr marL="152396" indent="0">
                  <a:buNone/>
                </a:pPr>
                <a:endParaRPr lang="en-US" dirty="0"/>
              </a:p>
              <a:p>
                <a:pPr marL="152396" indent="0">
                  <a:buNone/>
                </a:pPr>
                <a:endParaRPr lang="en-US" b="0" dirty="0"/>
              </a:p>
              <a:p>
                <a:endParaRPr lang="en-US" b="0" dirty="0"/>
              </a:p>
              <a:p>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03ED9C37-3A57-60E1-AE0E-D34555C84F4E}"/>
                  </a:ext>
                </a:extLst>
              </p:cNvPr>
              <p:cNvSpPr>
                <a:spLocks noGrp="1" noRot="1" noChangeAspect="1" noMove="1" noResize="1" noEditPoints="1" noAdjustHandles="1" noChangeArrowheads="1" noChangeShapeType="1" noTextEdit="1"/>
              </p:cNvSpPr>
              <p:nvPr>
                <p:ph type="body" idx="1"/>
              </p:nvPr>
            </p:nvSpPr>
            <p:spPr>
              <a:blipFill>
                <a:blip r:embed="rId2"/>
                <a:stretch>
                  <a:fillRect t="-3736"/>
                </a:stretch>
              </a:blipFill>
            </p:spPr>
            <p:txBody>
              <a:bodyPr/>
              <a:lstStyle/>
              <a:p>
                <a:r>
                  <a:rPr lang="en-US">
                    <a:noFill/>
                  </a:rPr>
                  <a:t> </a:t>
                </a:r>
              </a:p>
            </p:txBody>
          </p:sp>
        </mc:Fallback>
      </mc:AlternateContent>
    </p:spTree>
    <p:extLst>
      <p:ext uri="{BB962C8B-B14F-4D97-AF65-F5344CB8AC3E}">
        <p14:creationId xmlns:p14="http://schemas.microsoft.com/office/powerpoint/2010/main" val="195003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1F53A-2540-8864-CCB4-1FBAB72649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2FF4B-96B3-2203-D305-D05F386029C7}"/>
              </a:ext>
            </a:extLst>
          </p:cNvPr>
          <p:cNvSpPr>
            <a:spLocks noGrp="1"/>
          </p:cNvSpPr>
          <p:nvPr>
            <p:ph type="title"/>
          </p:nvPr>
        </p:nvSpPr>
        <p:spPr/>
        <p:txBody>
          <a:bodyPr/>
          <a:lstStyle/>
          <a:p>
            <a:r>
              <a:rPr lang="en-US" dirty="0"/>
              <a:t>Minkowski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494E7736-E4F5-C848-BCD5-06DA17ED9A9C}"/>
                  </a:ext>
                </a:extLst>
              </p:cNvPr>
              <p:cNvSpPr>
                <a:spLocks noGrp="1"/>
              </p:cNvSpPr>
              <p:nvPr>
                <p:ph type="body" idx="1"/>
              </p:nvPr>
            </p:nvSpPr>
            <p:spPr/>
            <p:txBody>
              <a:bodyPr/>
              <a:lstStyle/>
              <a:p>
                <a:pPr marL="152396" indent="0">
                  <a:buNone/>
                </a:pP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𝑑</m:t>
                        </m:r>
                      </m:sup>
                    </m:sSup>
                  </m:oMath>
                </a14:m>
                <a:r>
                  <a:rPr lang="en-US" b="0" dirty="0"/>
                  <a:t>,</a:t>
                </a:r>
              </a:p>
              <a:p>
                <a:pPr marL="152396" indent="0">
                  <a:buNone/>
                </a:pPr>
                <a14:m>
                  <m:oMathPara xmlns:m="http://schemas.openxmlformats.org/officeDocument/2006/math">
                    <m:oMathParaPr>
                      <m:jc m:val="center"/>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𝑝</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𝑑</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𝑦</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𝑝</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𝑝</m:t>
                              </m:r>
                            </m:den>
                          </m:f>
                        </m:sup>
                      </m:sSup>
                    </m:oMath>
                  </m:oMathPara>
                </a14:m>
                <a:endParaRPr lang="en-US" b="0" dirty="0"/>
              </a:p>
              <a:p>
                <a:pPr marL="152396" indent="0">
                  <a:buNone/>
                </a:pPr>
                <a:endParaRPr lang="en-US" dirty="0"/>
              </a:p>
              <a:p>
                <a14:m>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=2</m:t>
                    </m:r>
                  </m:oMath>
                </a14:m>
                <a:r>
                  <a:rPr lang="en-US" b="0" dirty="0"/>
                  <a:t> is Euclidean distance</a:t>
                </a:r>
              </a:p>
              <a:p>
                <a14:m>
                  <m:oMath xmlns:m="http://schemas.openxmlformats.org/officeDocument/2006/math">
                    <m:r>
                      <a:rPr lang="en-US" i="1" smtClean="0">
                        <a:latin typeface="Cambria Math" panose="02040503050406030204" pitchFamily="18" charset="0"/>
                      </a:rPr>
                      <m:t>𝑝</m:t>
                    </m:r>
                    <m:r>
                      <a:rPr lang="en-US" b="0" i="1" smtClean="0">
                        <a:latin typeface="Cambria Math" panose="02040503050406030204" pitchFamily="18" charset="0"/>
                      </a:rPr>
                      <m:t>=1</m:t>
                    </m:r>
                  </m:oMath>
                </a14:m>
                <a:r>
                  <a:rPr lang="en-US" b="0" dirty="0"/>
                  <a:t> is Manhattan distance</a:t>
                </a:r>
              </a:p>
              <a:p>
                <a:endParaRPr lang="en-US" b="0" dirty="0"/>
              </a:p>
              <a:p>
                <a:endParaRPr lang="en-US" b="0" dirty="0"/>
              </a:p>
              <a:p>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494E7736-E4F5-C848-BCD5-06DA17ED9A9C}"/>
                  </a:ext>
                </a:extLst>
              </p:cNvPr>
              <p:cNvSpPr>
                <a:spLocks noGrp="1" noRot="1" noChangeAspect="1" noMove="1" noResize="1" noEditPoints="1" noAdjustHandles="1" noChangeArrowheads="1" noChangeShapeType="1" noTextEdit="1"/>
              </p:cNvSpPr>
              <p:nvPr>
                <p:ph type="body" idx="1"/>
              </p:nvPr>
            </p:nvSpPr>
            <p:spPr>
              <a:blipFill>
                <a:blip r:embed="rId2"/>
                <a:stretch>
                  <a:fillRect t="-3736"/>
                </a:stretch>
              </a:blipFill>
            </p:spPr>
            <p:txBody>
              <a:bodyPr/>
              <a:lstStyle/>
              <a:p>
                <a:r>
                  <a:rPr lang="en-US">
                    <a:noFill/>
                  </a:rPr>
                  <a:t> </a:t>
                </a:r>
              </a:p>
            </p:txBody>
          </p:sp>
        </mc:Fallback>
      </mc:AlternateContent>
    </p:spTree>
    <p:extLst>
      <p:ext uri="{BB962C8B-B14F-4D97-AF65-F5344CB8AC3E}">
        <p14:creationId xmlns:p14="http://schemas.microsoft.com/office/powerpoint/2010/main" val="39290502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291D1-E528-9CC6-A4D2-B7E9400A28EA}"/>
              </a:ext>
            </a:extLst>
          </p:cNvPr>
          <p:cNvSpPr>
            <a:spLocks noGrp="1"/>
          </p:cNvSpPr>
          <p:nvPr>
            <p:ph type="title"/>
          </p:nvPr>
        </p:nvSpPr>
        <p:spPr/>
        <p:txBody>
          <a:bodyPr/>
          <a:lstStyle/>
          <a:p>
            <a:r>
              <a:rPr lang="en-US" dirty="0"/>
              <a:t>Minkowski Distance using NumPy</a:t>
            </a:r>
          </a:p>
        </p:txBody>
      </p:sp>
      <p:pic>
        <p:nvPicPr>
          <p:cNvPr id="7" name="Picture 6" descr="A black background with colorful text&#10;&#10;AI-generated content may be incorrect.">
            <a:extLst>
              <a:ext uri="{FF2B5EF4-FFF2-40B4-BE49-F238E27FC236}">
                <a16:creationId xmlns:a16="http://schemas.microsoft.com/office/drawing/2014/main" id="{A0AEEBB0-75D4-72E2-6B9E-DAA91A7DA235}"/>
              </a:ext>
            </a:extLst>
          </p:cNvPr>
          <p:cNvPicPr>
            <a:picLocks noChangeAspect="1"/>
          </p:cNvPicPr>
          <p:nvPr/>
        </p:nvPicPr>
        <p:blipFill>
          <a:blip r:embed="rId2"/>
          <a:stretch>
            <a:fillRect/>
          </a:stretch>
        </p:blipFill>
        <p:spPr>
          <a:xfrm>
            <a:off x="415600" y="1708890"/>
            <a:ext cx="6978638" cy="1480878"/>
          </a:xfrm>
          <a:prstGeom prst="rect">
            <a:avLst/>
          </a:prstGeom>
        </p:spPr>
      </p:pic>
    </p:spTree>
    <p:extLst>
      <p:ext uri="{BB962C8B-B14F-4D97-AF65-F5344CB8AC3E}">
        <p14:creationId xmlns:p14="http://schemas.microsoft.com/office/powerpoint/2010/main" val="13589716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D1049E-FC56-6872-9863-A9DEF3D71E95}"/>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D0091E4-38F6-FF22-95EE-81686DA1737C}"/>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Euclidean Distance between i and j?</a:t>
            </a:r>
          </a:p>
        </p:txBody>
      </p:sp>
      <p:sp>
        <p:nvSpPr>
          <p:cNvPr id="4" name="Rectangle 3">
            <a:extLst>
              <a:ext uri="{FF2B5EF4-FFF2-40B4-BE49-F238E27FC236}">
                <a16:creationId xmlns:a16="http://schemas.microsoft.com/office/drawing/2014/main" id="{74C8B70C-981B-7AEA-A15F-AEAD285076FF}"/>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1D9ABB0B-3D48-EB7E-EFE4-4F83DCD9C970}"/>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6F723DAF-9C7C-D757-B14E-C3AA89D994FB}"/>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97791D5A-D387-74C7-0E2A-E432CDA5DB77}"/>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067333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A21BD-C609-DADA-9E69-9972892B5D8C}"/>
              </a:ext>
            </a:extLst>
          </p:cNvPr>
          <p:cNvSpPr>
            <a:spLocks noGrp="1"/>
          </p:cNvSpPr>
          <p:nvPr>
            <p:ph type="title"/>
          </p:nvPr>
        </p:nvSpPr>
        <p:spPr/>
        <p:txBody>
          <a:bodyPr/>
          <a:lstStyle/>
          <a:p>
            <a:r>
              <a:rPr lang="en-US" dirty="0"/>
              <a:t>Euclidean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0FCFD044-9BA9-65C8-4379-930D2D9C8A36}"/>
                  </a:ext>
                </a:extLst>
              </p:cNvPr>
              <p:cNvSpPr>
                <a:spLocks noGrp="1"/>
              </p:cNvSpPr>
              <p:nvPr>
                <p:ph type="body" idx="1"/>
              </p:nvPr>
            </p:nvSpPr>
            <p:spPr/>
            <p:txBody>
              <a:bodyPr/>
              <a:lstStyle/>
              <a:p>
                <a:pPr marL="152396" indent="0">
                  <a:buNone/>
                </a:pPr>
                <a:r>
                  <a:rPr lang="en-US" dirty="0"/>
                  <a:t>Using formula…</a:t>
                </a:r>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0,0</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oMath>
                  </m:oMathPara>
                </a14:m>
                <a:endParaRPr lang="en-US" dirty="0"/>
              </a:p>
              <a:p>
                <a:pPr marL="152396"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2</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2</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sup>
                      </m:sSup>
                    </m:oMath>
                  </m:oMathPara>
                </a14:m>
                <a:endParaRPr lang="en-US" b="0" dirty="0"/>
              </a:p>
              <a:p>
                <a:pPr marL="152396" indent="0">
                  <a:buNone/>
                </a:pPr>
                <a:endParaRPr lang="en-US" b="0"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0−1</m:t>
                                      </m:r>
                                    </m:e>
                                  </m:d>
                                </m:e>
                                <m:sup>
                                  <m:r>
                                    <a:rPr lang="en-US" b="0" i="1" smtClean="0">
                                      <a:latin typeface="Cambria Math" panose="02040503050406030204" pitchFamily="18" charset="0"/>
                                    </a:rPr>
                                    <m:t>2</m:t>
                                  </m:r>
                                </m:sup>
                              </m:sSup>
                            </m:e>
                          </m:d>
                        </m:e>
                      </m:rad>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oMath>
                  </m:oMathPara>
                </a14:m>
                <a:endParaRPr lang="en-US" b="0" dirty="0"/>
              </a:p>
              <a:p>
                <a:pPr marL="152396" indent="0">
                  <a:buNone/>
                </a:pPr>
                <a:endParaRPr lang="en-US" dirty="0"/>
              </a:p>
              <a:p>
                <a:pPr marL="152396" indent="0">
                  <a:buNone/>
                </a:pPr>
                <a:endParaRPr lang="en-US" b="0" dirty="0"/>
              </a:p>
              <a:p>
                <a:pPr marL="152396" indent="0">
                  <a:buNone/>
                </a:pPr>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0FCFD044-9BA9-65C8-4379-930D2D9C8A3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81647D52-DFAE-FC74-1156-5E1075CA4364}"/>
              </a:ext>
            </a:extLst>
          </p:cNvPr>
          <p:cNvCxnSpPr/>
          <p:nvPr/>
        </p:nvCxnSpPr>
        <p:spPr>
          <a:xfrm flipV="1">
            <a:off x="9324753" y="1625471"/>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29F0AF05-5CA5-1D9F-55E3-E195A3E8D01A}"/>
              </a:ext>
            </a:extLst>
          </p:cNvPr>
          <p:cNvCxnSpPr/>
          <p:nvPr/>
        </p:nvCxnSpPr>
        <p:spPr>
          <a:xfrm>
            <a:off x="9324753" y="3252253"/>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6DC0A7A0-505F-3345-96C4-01A677A91A04}"/>
              </a:ext>
            </a:extLst>
          </p:cNvPr>
          <p:cNvSpPr/>
          <p:nvPr/>
        </p:nvSpPr>
        <p:spPr>
          <a:xfrm>
            <a:off x="9310932" y="3229393"/>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691B65A-C678-29D0-7CCE-D8877C4D7E3C}"/>
              </a:ext>
            </a:extLst>
          </p:cNvPr>
          <p:cNvSpPr/>
          <p:nvPr/>
        </p:nvSpPr>
        <p:spPr>
          <a:xfrm>
            <a:off x="10399003" y="2361065"/>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22540C6E-D72B-809F-5441-AA892657972E}"/>
              </a:ext>
            </a:extLst>
          </p:cNvPr>
          <p:cNvSpPr/>
          <p:nvPr/>
        </p:nvSpPr>
        <p:spPr>
          <a:xfrm>
            <a:off x="9307390" y="235397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9D2864FA-C1DC-0901-A47E-1865FCC7435C}"/>
                  </a:ext>
                </a:extLst>
              </p:cNvPr>
              <p:cNvSpPr txBox="1"/>
              <p:nvPr/>
            </p:nvSpPr>
            <p:spPr>
              <a:xfrm>
                <a:off x="8495413" y="222294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23" name="TextBox 22">
                <a:extLst>
                  <a:ext uri="{FF2B5EF4-FFF2-40B4-BE49-F238E27FC236}">
                    <a16:creationId xmlns:a16="http://schemas.microsoft.com/office/drawing/2014/main" id="{9D2864FA-C1DC-0901-A47E-1865FCC7435C}"/>
                  </a:ext>
                </a:extLst>
              </p:cNvPr>
              <p:cNvSpPr txBox="1">
                <a:spLocks noRot="1" noChangeAspect="1" noMove="1" noResize="1" noEditPoints="1" noAdjustHandles="1" noChangeArrowheads="1" noChangeShapeType="1" noTextEdit="1"/>
              </p:cNvSpPr>
              <p:nvPr/>
            </p:nvSpPr>
            <p:spPr>
              <a:xfrm>
                <a:off x="8495413" y="2222940"/>
                <a:ext cx="1052621" cy="307777"/>
              </a:xfrm>
              <a:prstGeom prst="rect">
                <a:avLst/>
              </a:prstGeom>
              <a:blipFill>
                <a:blip r:embed="rId3"/>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4AAAD43-4571-BDF7-8432-FC0937E8E86F}"/>
                  </a:ext>
                </a:extLst>
              </p:cNvPr>
              <p:cNvSpPr txBox="1"/>
              <p:nvPr/>
            </p:nvSpPr>
            <p:spPr>
              <a:xfrm>
                <a:off x="8495413" y="3168361"/>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dirty="0"/>
              </a:p>
            </p:txBody>
          </p:sp>
        </mc:Choice>
        <mc:Fallback xmlns="">
          <p:sp>
            <p:nvSpPr>
              <p:cNvPr id="24" name="TextBox 23">
                <a:extLst>
                  <a:ext uri="{FF2B5EF4-FFF2-40B4-BE49-F238E27FC236}">
                    <a16:creationId xmlns:a16="http://schemas.microsoft.com/office/drawing/2014/main" id="{34AAAD43-4571-BDF7-8432-FC0937E8E86F}"/>
                  </a:ext>
                </a:extLst>
              </p:cNvPr>
              <p:cNvSpPr txBox="1">
                <a:spLocks noRot="1" noChangeAspect="1" noMove="1" noResize="1" noEditPoints="1" noAdjustHandles="1" noChangeArrowheads="1" noChangeShapeType="1" noTextEdit="1"/>
              </p:cNvSpPr>
              <p:nvPr/>
            </p:nvSpPr>
            <p:spPr>
              <a:xfrm>
                <a:off x="8495413" y="3168361"/>
                <a:ext cx="1052621" cy="307777"/>
              </a:xfrm>
              <a:prstGeom prst="rect">
                <a:avLst/>
              </a:prstGeom>
              <a:blipFill>
                <a:blip r:embed="rId4"/>
                <a:stretch>
                  <a:fillRect t="-4000"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78D4BF0A-9BAD-8811-B42D-E9091B4E7667}"/>
                  </a:ext>
                </a:extLst>
              </p:cNvPr>
              <p:cNvSpPr txBox="1"/>
              <p:nvPr/>
            </p:nvSpPr>
            <p:spPr>
              <a:xfrm>
                <a:off x="9872692" y="204619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25" name="TextBox 24">
                <a:extLst>
                  <a:ext uri="{FF2B5EF4-FFF2-40B4-BE49-F238E27FC236}">
                    <a16:creationId xmlns:a16="http://schemas.microsoft.com/office/drawing/2014/main" id="{78D4BF0A-9BAD-8811-B42D-E9091B4E7667}"/>
                  </a:ext>
                </a:extLst>
              </p:cNvPr>
              <p:cNvSpPr txBox="1">
                <a:spLocks noRot="1" noChangeAspect="1" noMove="1" noResize="1" noEditPoints="1" noAdjustHandles="1" noChangeArrowheads="1" noChangeShapeType="1" noTextEdit="1"/>
              </p:cNvSpPr>
              <p:nvPr/>
            </p:nvSpPr>
            <p:spPr>
              <a:xfrm>
                <a:off x="9872692" y="2046193"/>
                <a:ext cx="1052621" cy="307777"/>
              </a:xfrm>
              <a:prstGeom prst="rect">
                <a:avLst/>
              </a:prstGeom>
              <a:blipFill>
                <a:blip r:embed="rId5"/>
                <a:stretch>
                  <a:fillRect t="-4000" b="-20000"/>
                </a:stretch>
              </a:blipFill>
            </p:spPr>
            <p:txBody>
              <a:bodyPr/>
              <a:lstStyle/>
              <a:p>
                <a:r>
                  <a:rPr lang="en-US">
                    <a:noFill/>
                  </a:rPr>
                  <a:t> </a:t>
                </a:r>
              </a:p>
            </p:txBody>
          </p:sp>
        </mc:Fallback>
      </mc:AlternateContent>
      <p:cxnSp>
        <p:nvCxnSpPr>
          <p:cNvPr id="26" name="Straight Arrow Connector 25">
            <a:extLst>
              <a:ext uri="{FF2B5EF4-FFF2-40B4-BE49-F238E27FC236}">
                <a16:creationId xmlns:a16="http://schemas.microsoft.com/office/drawing/2014/main" id="{6DF6B5B3-0142-C177-1116-AE9B8B3ABC15}"/>
              </a:ext>
            </a:extLst>
          </p:cNvPr>
          <p:cNvCxnSpPr>
            <a:endCxn id="25" idx="2"/>
          </p:cNvCxnSpPr>
          <p:nvPr/>
        </p:nvCxnSpPr>
        <p:spPr>
          <a:xfrm flipV="1">
            <a:off x="9353109" y="2353970"/>
            <a:ext cx="1045894" cy="87542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7" name="Straight Arrow Connector 26">
            <a:extLst>
              <a:ext uri="{FF2B5EF4-FFF2-40B4-BE49-F238E27FC236}">
                <a16:creationId xmlns:a16="http://schemas.microsoft.com/office/drawing/2014/main" id="{F52139DD-7C3E-734D-EEB5-6B82987700CA}"/>
              </a:ext>
            </a:extLst>
          </p:cNvPr>
          <p:cNvCxnSpPr>
            <a:cxnSpLocks/>
          </p:cNvCxnSpPr>
          <p:nvPr/>
        </p:nvCxnSpPr>
        <p:spPr>
          <a:xfrm flipV="1">
            <a:off x="9370472" y="2423523"/>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BB4CAA34-9F41-AC57-1632-58960D52615A}"/>
              </a:ext>
            </a:extLst>
          </p:cNvPr>
          <p:cNvCxnSpPr/>
          <p:nvPr/>
        </p:nvCxnSpPr>
        <p:spPr>
          <a:xfrm flipV="1">
            <a:off x="9370472" y="2361065"/>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FEF3B376-7445-4848-7C24-09A52DD05F5F}"/>
              </a:ext>
            </a:extLst>
          </p:cNvPr>
          <p:cNvSpPr txBox="1"/>
          <p:nvPr/>
        </p:nvSpPr>
        <p:spPr>
          <a:xfrm>
            <a:off x="9126279" y="2635564"/>
            <a:ext cx="226830" cy="307777"/>
          </a:xfrm>
          <a:prstGeom prst="rect">
            <a:avLst/>
          </a:prstGeom>
          <a:noFill/>
        </p:spPr>
        <p:txBody>
          <a:bodyPr wrap="square" rtlCol="0">
            <a:spAutoFit/>
          </a:bodyPr>
          <a:lstStyle/>
          <a:p>
            <a:r>
              <a:rPr lang="en-US" dirty="0"/>
              <a:t>1</a:t>
            </a:r>
          </a:p>
        </p:txBody>
      </p:sp>
      <p:sp>
        <p:nvSpPr>
          <p:cNvPr id="30" name="TextBox 29">
            <a:extLst>
              <a:ext uri="{FF2B5EF4-FFF2-40B4-BE49-F238E27FC236}">
                <a16:creationId xmlns:a16="http://schemas.microsoft.com/office/drawing/2014/main" id="{EEB6C063-51BB-52C0-4E0E-01CA86A9CB0E}"/>
              </a:ext>
            </a:extLst>
          </p:cNvPr>
          <p:cNvSpPr txBox="1"/>
          <p:nvPr/>
        </p:nvSpPr>
        <p:spPr>
          <a:xfrm>
            <a:off x="9656496" y="2076147"/>
            <a:ext cx="489101" cy="307777"/>
          </a:xfrm>
          <a:prstGeom prst="rect">
            <a:avLst/>
          </a:prstGeom>
          <a:noFill/>
        </p:spPr>
        <p:txBody>
          <a:bodyPr wrap="square" rtlCol="0">
            <a:spAutoFit/>
          </a:bodyPr>
          <a:lstStyle/>
          <a:p>
            <a:r>
              <a:rPr lang="en-US" dirty="0"/>
              <a:t>1</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9BA7C4E-4460-C5FE-50D9-22676BF9AFD2}"/>
                  </a:ext>
                </a:extLst>
              </p:cNvPr>
              <p:cNvSpPr txBox="1"/>
              <p:nvPr/>
            </p:nvSpPr>
            <p:spPr>
              <a:xfrm>
                <a:off x="9803755" y="2691403"/>
                <a:ext cx="350339" cy="333168"/>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e>
                      </m:rad>
                    </m:oMath>
                  </m:oMathPara>
                </a14:m>
                <a:endParaRPr lang="en-US" dirty="0"/>
              </a:p>
            </p:txBody>
          </p:sp>
        </mc:Choice>
        <mc:Fallback xmlns="">
          <p:sp>
            <p:nvSpPr>
              <p:cNvPr id="31" name="TextBox 30">
                <a:extLst>
                  <a:ext uri="{FF2B5EF4-FFF2-40B4-BE49-F238E27FC236}">
                    <a16:creationId xmlns:a16="http://schemas.microsoft.com/office/drawing/2014/main" id="{19BA7C4E-4460-C5FE-50D9-22676BF9AFD2}"/>
                  </a:ext>
                </a:extLst>
              </p:cNvPr>
              <p:cNvSpPr txBox="1">
                <a:spLocks noRot="1" noChangeAspect="1" noMove="1" noResize="1" noEditPoints="1" noAdjustHandles="1" noChangeArrowheads="1" noChangeShapeType="1" noTextEdit="1"/>
              </p:cNvSpPr>
              <p:nvPr/>
            </p:nvSpPr>
            <p:spPr>
              <a:xfrm>
                <a:off x="9803755" y="2691403"/>
                <a:ext cx="350339" cy="333168"/>
              </a:xfrm>
              <a:prstGeom prst="rect">
                <a:avLst/>
              </a:prstGeom>
              <a:blipFill>
                <a:blip r:embed="rId6"/>
                <a:stretch>
                  <a:fillRect r="-3448"/>
                </a:stretch>
              </a:blipFill>
            </p:spPr>
            <p:txBody>
              <a:bodyPr/>
              <a:lstStyle/>
              <a:p>
                <a:r>
                  <a:rPr lang="en-US">
                    <a:noFill/>
                  </a:rPr>
                  <a:t> </a:t>
                </a:r>
              </a:p>
            </p:txBody>
          </p:sp>
        </mc:Fallback>
      </mc:AlternateContent>
    </p:spTree>
    <p:extLst>
      <p:ext uri="{BB962C8B-B14F-4D97-AF65-F5344CB8AC3E}">
        <p14:creationId xmlns:p14="http://schemas.microsoft.com/office/powerpoint/2010/main" val="381127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dissolve">
                                      <p:cBhvr>
                                        <p:cTn id="16" dur="500"/>
                                        <p:tgtEl>
                                          <p:spTgt spid="2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dissolve">
                                      <p:cBhvr>
                                        <p:cTn id="28" dur="500"/>
                                        <p:tgtEl>
                                          <p:spTgt spid="25"/>
                                        </p:tgtEl>
                                      </p:cBhvr>
                                    </p:animEffect>
                                  </p:childTnLst>
                                </p:cTn>
                              </p:par>
                              <p:par>
                                <p:cTn id="29" presetID="9"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dissolve">
                                      <p:cBhvr>
                                        <p:cTn id="31" dur="500"/>
                                        <p:tgtEl>
                                          <p:spTgt spid="18"/>
                                        </p:tgtEl>
                                      </p:cBhvr>
                                    </p:animEffect>
                                  </p:childTnLst>
                                </p:cTn>
                              </p:par>
                              <p:par>
                                <p:cTn id="32" presetID="9"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dissolve">
                                      <p:cBhvr>
                                        <p:cTn id="43" dur="500"/>
                                        <p:tgtEl>
                                          <p:spTgt spid="22"/>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dissolve">
                                      <p:cBhvr>
                                        <p:cTn id="46" dur="500"/>
                                        <p:tgtEl>
                                          <p:spTgt spid="23"/>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500"/>
                                        <p:tgtEl>
                                          <p:spTgt spid="25"/>
                                        </p:tgtEl>
                                      </p:cBhvr>
                                    </p:animEffect>
                                  </p:childTnLst>
                                </p:cTn>
                              </p:par>
                              <p:par>
                                <p:cTn id="53" presetID="9" presetClass="entr" presetSubtype="0" fill="hold"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dissolve">
                                      <p:cBhvr>
                                        <p:cTn id="55" dur="500"/>
                                        <p:tgtEl>
                                          <p:spTgt spid="26"/>
                                        </p:tgtEl>
                                      </p:cBhvr>
                                    </p:animEffect>
                                  </p:childTnLst>
                                </p:cTn>
                              </p:par>
                              <p:par>
                                <p:cTn id="56" presetID="9"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dissolve">
                                      <p:cBhvr>
                                        <p:cTn id="58" dur="500"/>
                                        <p:tgtEl>
                                          <p:spTgt spid="27"/>
                                        </p:tgtEl>
                                      </p:cBhvr>
                                    </p:animEffect>
                                  </p:childTnLst>
                                </p:cTn>
                              </p:par>
                              <p:par>
                                <p:cTn id="59" presetID="9" presetClass="entr" presetSubtype="0" fill="hold"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dissolve">
                                      <p:cBhvr>
                                        <p:cTn id="61" dur="500"/>
                                        <p:tgtEl>
                                          <p:spTgt spid="28"/>
                                        </p:tgtEl>
                                      </p:cBhvr>
                                    </p:animEffect>
                                  </p:childTnLst>
                                </p:cTn>
                              </p:par>
                            </p:childTnLst>
                          </p:cTn>
                        </p:par>
                      </p:childTnLst>
                    </p:cTn>
                  </p:par>
                  <p:par>
                    <p:cTn id="62" fill="hold">
                      <p:stCondLst>
                        <p:cond delay="indefinite"/>
                      </p:stCondLst>
                      <p:childTnLst>
                        <p:par>
                          <p:cTn id="63" fill="hold">
                            <p:stCondLst>
                              <p:cond delay="0"/>
                            </p:stCondLst>
                            <p:childTnLst>
                              <p:par>
                                <p:cTn id="64" presetID="9" presetClass="entr" presetSubtype="0" fill="hold" nodeType="clickEffect">
                                  <p:stCondLst>
                                    <p:cond delay="0"/>
                                  </p:stCondLst>
                                  <p:childTnLst>
                                    <p:set>
                                      <p:cBhvr>
                                        <p:cTn id="65" dur="1" fill="hold">
                                          <p:stCondLst>
                                            <p:cond delay="0"/>
                                          </p:stCondLst>
                                        </p:cTn>
                                        <p:tgtEl>
                                          <p:spTgt spid="3">
                                            <p:txEl>
                                              <p:pRg st="0" end="0"/>
                                            </p:txEl>
                                          </p:spTgt>
                                        </p:tgtEl>
                                        <p:attrNameLst>
                                          <p:attrName>style.visibility</p:attrName>
                                        </p:attrNameLst>
                                      </p:cBhvr>
                                      <p:to>
                                        <p:strVal val="visible"/>
                                      </p:to>
                                    </p:set>
                                    <p:animEffect transition="in" filter="dissolve">
                                      <p:cBhvr>
                                        <p:cTn id="66" dur="500"/>
                                        <p:tgtEl>
                                          <p:spTgt spid="3">
                                            <p:txEl>
                                              <p:pRg st="0" end="0"/>
                                            </p:txEl>
                                          </p:spTgt>
                                        </p:tgtEl>
                                      </p:cBhvr>
                                    </p:animEffect>
                                  </p:childTnLst>
                                </p:cTn>
                              </p:par>
                              <p:par>
                                <p:cTn id="67" presetID="9" presetClass="entr" presetSubtype="0" fill="hold" nodeType="withEffect">
                                  <p:stCondLst>
                                    <p:cond delay="0"/>
                                  </p:stCondLst>
                                  <p:childTnLst>
                                    <p:set>
                                      <p:cBhvr>
                                        <p:cTn id="68" dur="1" fill="hold">
                                          <p:stCondLst>
                                            <p:cond delay="0"/>
                                          </p:stCondLst>
                                        </p:cTn>
                                        <p:tgtEl>
                                          <p:spTgt spid="3">
                                            <p:txEl>
                                              <p:pRg st="1" end="1"/>
                                            </p:txEl>
                                          </p:spTgt>
                                        </p:tgtEl>
                                        <p:attrNameLst>
                                          <p:attrName>style.visibility</p:attrName>
                                        </p:attrNameLst>
                                      </p:cBhvr>
                                      <p:to>
                                        <p:strVal val="visible"/>
                                      </p:to>
                                    </p:set>
                                    <p:animEffect transition="in" filter="dissolve">
                                      <p:cBhvr>
                                        <p:cTn id="69" dur="500"/>
                                        <p:tgtEl>
                                          <p:spTgt spid="3">
                                            <p:txEl>
                                              <p:pRg st="1" end="1"/>
                                            </p:txEl>
                                          </p:spTgt>
                                        </p:tgtEl>
                                      </p:cBhvr>
                                    </p:animEffect>
                                  </p:childTnLst>
                                </p:cTn>
                              </p:par>
                              <p:par>
                                <p:cTn id="70" presetID="9" presetClass="entr" presetSubtype="0" fill="hold" nodeType="withEffect">
                                  <p:stCondLst>
                                    <p:cond delay="0"/>
                                  </p:stCondLst>
                                  <p:childTnLst>
                                    <p:set>
                                      <p:cBhvr>
                                        <p:cTn id="71" dur="1" fill="hold">
                                          <p:stCondLst>
                                            <p:cond delay="0"/>
                                          </p:stCondLst>
                                        </p:cTn>
                                        <p:tgtEl>
                                          <p:spTgt spid="3">
                                            <p:txEl>
                                              <p:pRg st="2" end="2"/>
                                            </p:txEl>
                                          </p:spTgt>
                                        </p:tgtEl>
                                        <p:attrNameLst>
                                          <p:attrName>style.visibility</p:attrName>
                                        </p:attrNameLst>
                                      </p:cBhvr>
                                      <p:to>
                                        <p:strVal val="visible"/>
                                      </p:to>
                                    </p:set>
                                    <p:animEffect transition="in" filter="dissolve">
                                      <p:cBhvr>
                                        <p:cTn id="72" dur="500"/>
                                        <p:tgtEl>
                                          <p:spTgt spid="3">
                                            <p:txEl>
                                              <p:pRg st="2" end="2"/>
                                            </p:txEl>
                                          </p:spTgt>
                                        </p:tgtEl>
                                      </p:cBhvr>
                                    </p:animEffect>
                                  </p:childTnLst>
                                </p:cTn>
                              </p:par>
                              <p:par>
                                <p:cTn id="73" presetID="9" presetClass="entr" presetSubtype="0" fill="hold" nodeType="withEffect">
                                  <p:stCondLst>
                                    <p:cond delay="0"/>
                                  </p:stCondLst>
                                  <p:childTnLst>
                                    <p:set>
                                      <p:cBhvr>
                                        <p:cTn id="74" dur="1" fill="hold">
                                          <p:stCondLst>
                                            <p:cond delay="0"/>
                                          </p:stCondLst>
                                        </p:cTn>
                                        <p:tgtEl>
                                          <p:spTgt spid="3">
                                            <p:txEl>
                                              <p:pRg st="4" end="4"/>
                                            </p:txEl>
                                          </p:spTgt>
                                        </p:tgtEl>
                                        <p:attrNameLst>
                                          <p:attrName>style.visibility</p:attrName>
                                        </p:attrNameLst>
                                      </p:cBhvr>
                                      <p:to>
                                        <p:strVal val="visible"/>
                                      </p:to>
                                    </p:set>
                                    <p:animEffect transition="in" filter="dissolve">
                                      <p:cBhvr>
                                        <p:cTn id="7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1" grpId="1" animBg="1"/>
      <p:bldP spid="22" grpId="0" animBg="1"/>
      <p:bldP spid="22" grpId="1" animBg="1"/>
      <p:bldP spid="23" grpId="0"/>
      <p:bldP spid="23" grpId="1"/>
      <p:bldP spid="24" grpId="0"/>
      <p:bldP spid="24" grpId="1"/>
      <p:bldP spid="25" grpId="0"/>
      <p:bldP spid="25" grpId="1"/>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BA9234-6D7D-D07A-AE44-345E6E8E120A}"/>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6FFAEAB-97BC-57CF-B473-8C4552C64268}"/>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manhattan distance between i and j?</a:t>
            </a:r>
          </a:p>
        </p:txBody>
      </p:sp>
      <p:sp>
        <p:nvSpPr>
          <p:cNvPr id="4" name="Rectangle 3">
            <a:extLst>
              <a:ext uri="{FF2B5EF4-FFF2-40B4-BE49-F238E27FC236}">
                <a16:creationId xmlns:a16="http://schemas.microsoft.com/office/drawing/2014/main" id="{64618C62-F289-E98E-145B-C55ADB37F774}"/>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CFB160FF-0D87-9A3C-ACB8-C6064FC98974}"/>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50C37C5C-5865-8AC4-3B50-AD4C133859B1}"/>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9FFEAA29-D862-60BA-2F46-892AAB14438E}"/>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461948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49C98-D660-70F9-84F6-3FFE0D33B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EAFB8-61A8-C7EA-E5BE-5D269E31C181}"/>
              </a:ext>
            </a:extLst>
          </p:cNvPr>
          <p:cNvSpPr>
            <a:spLocks noGrp="1"/>
          </p:cNvSpPr>
          <p:nvPr>
            <p:ph type="title"/>
          </p:nvPr>
        </p:nvSpPr>
        <p:spPr/>
        <p:txBody>
          <a:bodyPr/>
          <a:lstStyle/>
          <a:p>
            <a:r>
              <a:rPr lang="en-US" dirty="0"/>
              <a:t>Manhattan Distance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E21D496-57D8-9D7B-4285-9F7366C4DA2A}"/>
                  </a:ext>
                </a:extLst>
              </p:cNvPr>
              <p:cNvSpPr>
                <a:spLocks noGrp="1"/>
              </p:cNvSpPr>
              <p:nvPr>
                <p:ph type="body" idx="1"/>
              </p:nvPr>
            </p:nvSpPr>
            <p:spPr/>
            <p:txBody>
              <a:bodyPr/>
              <a:lstStyle/>
              <a:p>
                <a:pPr marL="152396" indent="0">
                  <a:buNone/>
                </a:pPr>
                <a:r>
                  <a:rPr lang="en-US" dirty="0"/>
                  <a:t>Using formula…</a:t>
                </a:r>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0,0</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1,1</m:t>
                          </m:r>
                        </m:e>
                      </m:d>
                    </m:oMath>
                  </m:oMathPara>
                </a14:m>
                <a:endParaRPr lang="en-US" dirty="0"/>
              </a:p>
              <a:p>
                <a:pPr marL="152396"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2</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𝑗</m:t>
                                              </m:r>
                                            </m:e>
                                            <m:sub>
                                              <m:r>
                                                <a:rPr lang="en-US" b="0" i="1" smtClean="0">
                                                  <a:latin typeface="Cambria Math" panose="02040503050406030204" pitchFamily="18" charset="0"/>
                                                </a:rPr>
                                                <m:t>𝑖</m:t>
                                              </m:r>
                                            </m:sub>
                                          </m:sSub>
                                        </m:e>
                                      </m:d>
                                    </m:e>
                                    <m:sup>
                                      <m:r>
                                        <a:rPr lang="en-US" b="0" i="1" smtClean="0">
                                          <a:latin typeface="Cambria Math" panose="02040503050406030204" pitchFamily="18" charset="0"/>
                                        </a:rPr>
                                        <m:t>1</m:t>
                                      </m:r>
                                    </m:sup>
                                  </m:sSup>
                                </m:e>
                              </m:nary>
                            </m:e>
                          </m:d>
                        </m:e>
                        <m:sup>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1</m:t>
                              </m:r>
                            </m:den>
                          </m:f>
                        </m:sup>
                      </m:sSup>
                    </m:oMath>
                  </m:oMathPara>
                </a14:m>
                <a:endParaRPr lang="en-US" b="0" dirty="0"/>
              </a:p>
              <a:p>
                <a:pPr marL="152396" indent="0">
                  <a:buNone/>
                </a:pPr>
                <a:endParaRPr lang="en-US" b="0"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=2</m:t>
                      </m:r>
                    </m:oMath>
                  </m:oMathPara>
                </a14:m>
                <a:endParaRPr lang="en-US" b="0" dirty="0"/>
              </a:p>
              <a:p>
                <a:pPr marL="152396" indent="0">
                  <a:buNone/>
                </a:pPr>
                <a:endParaRPr lang="en-US" b="0" dirty="0"/>
              </a:p>
              <a:p>
                <a:pPr marL="152396" indent="0">
                  <a:buNone/>
                </a:pPr>
                <a:endParaRPr lang="en-US" b="0" dirty="0"/>
              </a:p>
              <a:p>
                <a:pPr marL="152396" indent="0">
                  <a:buNone/>
                </a:pPr>
                <a:endParaRPr lang="en-US" dirty="0"/>
              </a:p>
              <a:p>
                <a:pPr marL="152396" indent="0">
                  <a:buNone/>
                </a:pPr>
                <a:endParaRPr lang="en-US" b="0" dirty="0"/>
              </a:p>
              <a:p>
                <a:pPr marL="152396" indent="0">
                  <a:buNone/>
                </a:pPr>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5E21D496-57D8-9D7B-4285-9F7366C4DA2A}"/>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D17AC32B-F284-3AB6-1FDD-6D992F6781FE}"/>
              </a:ext>
            </a:extLst>
          </p:cNvPr>
          <p:cNvCxnSpPr/>
          <p:nvPr/>
        </p:nvCxnSpPr>
        <p:spPr>
          <a:xfrm flipV="1">
            <a:off x="9324753" y="1625471"/>
            <a:ext cx="0" cy="16267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076A8C7-CDB3-B4A1-0ACD-BE7ABB7915E7}"/>
              </a:ext>
            </a:extLst>
          </p:cNvPr>
          <p:cNvCxnSpPr/>
          <p:nvPr/>
        </p:nvCxnSpPr>
        <p:spPr>
          <a:xfrm>
            <a:off x="9324753" y="3252253"/>
            <a:ext cx="167994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35F61496-81C3-CA1C-1DAB-2F897ACA4477}"/>
              </a:ext>
            </a:extLst>
          </p:cNvPr>
          <p:cNvSpPr/>
          <p:nvPr/>
        </p:nvSpPr>
        <p:spPr>
          <a:xfrm>
            <a:off x="9310932" y="3229393"/>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897F2490-0F72-9BEC-F2A4-34DA1223695E}"/>
              </a:ext>
            </a:extLst>
          </p:cNvPr>
          <p:cNvSpPr/>
          <p:nvPr/>
        </p:nvSpPr>
        <p:spPr>
          <a:xfrm>
            <a:off x="10399003" y="2361065"/>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851B7BB4-93EA-ED4B-9853-7EAD9CD72715}"/>
              </a:ext>
            </a:extLst>
          </p:cNvPr>
          <p:cNvSpPr/>
          <p:nvPr/>
        </p:nvSpPr>
        <p:spPr>
          <a:xfrm>
            <a:off x="9307390" y="2353970"/>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68DBE5F6-4CE0-789F-7AF4-A3DD3D9D7080}"/>
                  </a:ext>
                </a:extLst>
              </p:cNvPr>
              <p:cNvSpPr txBox="1"/>
              <p:nvPr/>
            </p:nvSpPr>
            <p:spPr>
              <a:xfrm>
                <a:off x="8495413" y="2222940"/>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r>
                        <a:rPr lang="en-US" i="1" dirty="0" smtClean="0">
                          <a:latin typeface="Cambria Math" panose="02040503050406030204" pitchFamily="18" charset="0"/>
                        </a:rPr>
                        <m:t>(0,1)</m:t>
                      </m:r>
                    </m:oMath>
                  </m:oMathPara>
                </a14:m>
                <a:endParaRPr/>
              </a:p>
            </p:txBody>
          </p:sp>
        </mc:Choice>
        <mc:Fallback xmlns="">
          <p:sp>
            <p:nvSpPr>
              <p:cNvPr id="23" name="TextBox 22">
                <a:extLst>
                  <a:ext uri="{FF2B5EF4-FFF2-40B4-BE49-F238E27FC236}">
                    <a16:creationId xmlns:a16="http://schemas.microsoft.com/office/drawing/2014/main" id="{68DBE5F6-4CE0-789F-7AF4-A3DD3D9D7080}"/>
                  </a:ext>
                </a:extLst>
              </p:cNvPr>
              <p:cNvSpPr txBox="1">
                <a:spLocks noRot="1" noChangeAspect="1" noMove="1" noResize="1" noEditPoints="1" noAdjustHandles="1" noChangeArrowheads="1" noChangeShapeType="1" noTextEdit="1"/>
              </p:cNvSpPr>
              <p:nvPr/>
            </p:nvSpPr>
            <p:spPr>
              <a:xfrm>
                <a:off x="8495413" y="2222940"/>
                <a:ext cx="1052621" cy="307777"/>
              </a:xfrm>
              <a:prstGeom prst="rect">
                <a:avLst/>
              </a:prstGeom>
              <a:blipFill>
                <a:blip r:embed="rId3"/>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FB974433-2D97-320D-FD86-24C4AD39D8BE}"/>
                  </a:ext>
                </a:extLst>
              </p:cNvPr>
              <p:cNvSpPr txBox="1"/>
              <p:nvPr/>
            </p:nvSpPr>
            <p:spPr>
              <a:xfrm>
                <a:off x="8495413" y="3168361"/>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𝑖</m:t>
                      </m:r>
                      <m:r>
                        <a:rPr lang="en-US" i="1" dirty="0" smtClean="0">
                          <a:latin typeface="Cambria Math" panose="02040503050406030204" pitchFamily="18" charset="0"/>
                        </a:rPr>
                        <m:t>(0,0)</m:t>
                      </m:r>
                    </m:oMath>
                  </m:oMathPara>
                </a14:m>
                <a:endParaRPr/>
              </a:p>
            </p:txBody>
          </p:sp>
        </mc:Choice>
        <mc:Fallback xmlns="">
          <p:sp>
            <p:nvSpPr>
              <p:cNvPr id="24" name="TextBox 23">
                <a:extLst>
                  <a:ext uri="{FF2B5EF4-FFF2-40B4-BE49-F238E27FC236}">
                    <a16:creationId xmlns:a16="http://schemas.microsoft.com/office/drawing/2014/main" id="{FB974433-2D97-320D-FD86-24C4AD39D8BE}"/>
                  </a:ext>
                </a:extLst>
              </p:cNvPr>
              <p:cNvSpPr txBox="1">
                <a:spLocks noRot="1" noChangeAspect="1" noMove="1" noResize="1" noEditPoints="1" noAdjustHandles="1" noChangeArrowheads="1" noChangeShapeType="1" noTextEdit="1"/>
              </p:cNvSpPr>
              <p:nvPr/>
            </p:nvSpPr>
            <p:spPr>
              <a:xfrm>
                <a:off x="8495413" y="3168361"/>
                <a:ext cx="1052621" cy="307777"/>
              </a:xfrm>
              <a:prstGeom prst="rect">
                <a:avLst/>
              </a:prstGeom>
              <a:blipFill>
                <a:blip r:embed="rId4"/>
                <a:stretch>
                  <a:fillRect b="-1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3A1D8CC-0B25-451B-D5D7-00AA1C727FB3}"/>
                  </a:ext>
                </a:extLst>
              </p:cNvPr>
              <p:cNvSpPr txBox="1"/>
              <p:nvPr/>
            </p:nvSpPr>
            <p:spPr>
              <a:xfrm>
                <a:off x="9872692" y="2046193"/>
                <a:ext cx="1052621"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𝑗</m:t>
                      </m:r>
                      <m:r>
                        <a:rPr lang="en-US" i="1" dirty="0" smtClean="0">
                          <a:latin typeface="Cambria Math" panose="02040503050406030204" pitchFamily="18" charset="0"/>
                        </a:rPr>
                        <m:t>(1,1)</m:t>
                      </m:r>
                    </m:oMath>
                  </m:oMathPara>
                </a14:m>
                <a:endParaRPr/>
              </a:p>
            </p:txBody>
          </p:sp>
        </mc:Choice>
        <mc:Fallback xmlns="">
          <p:sp>
            <p:nvSpPr>
              <p:cNvPr id="25" name="TextBox 24">
                <a:extLst>
                  <a:ext uri="{FF2B5EF4-FFF2-40B4-BE49-F238E27FC236}">
                    <a16:creationId xmlns:a16="http://schemas.microsoft.com/office/drawing/2014/main" id="{B3A1D8CC-0B25-451B-D5D7-00AA1C727FB3}"/>
                  </a:ext>
                </a:extLst>
              </p:cNvPr>
              <p:cNvSpPr txBox="1">
                <a:spLocks noRot="1" noChangeAspect="1" noMove="1" noResize="1" noEditPoints="1" noAdjustHandles="1" noChangeArrowheads="1" noChangeShapeType="1" noTextEdit="1"/>
              </p:cNvSpPr>
              <p:nvPr/>
            </p:nvSpPr>
            <p:spPr>
              <a:xfrm>
                <a:off x="9872692" y="2046193"/>
                <a:ext cx="1052621" cy="307777"/>
              </a:xfrm>
              <a:prstGeom prst="rect">
                <a:avLst/>
              </a:prstGeom>
              <a:blipFill>
                <a:blip r:embed="rId5"/>
                <a:stretch>
                  <a:fillRect b="-1200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A04AF91C-C43B-AA15-4555-097DA2025D6C}"/>
              </a:ext>
            </a:extLst>
          </p:cNvPr>
          <p:cNvCxnSpPr>
            <a:cxnSpLocks/>
          </p:cNvCxnSpPr>
          <p:nvPr/>
        </p:nvCxnSpPr>
        <p:spPr>
          <a:xfrm flipV="1">
            <a:off x="9370472" y="2423523"/>
            <a:ext cx="0" cy="746861"/>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28" name="Straight Arrow Connector 27">
            <a:extLst>
              <a:ext uri="{FF2B5EF4-FFF2-40B4-BE49-F238E27FC236}">
                <a16:creationId xmlns:a16="http://schemas.microsoft.com/office/drawing/2014/main" id="{EDF69A87-9C2A-D0E5-FA64-1E11B3217A8E}"/>
              </a:ext>
            </a:extLst>
          </p:cNvPr>
          <p:cNvCxnSpPr/>
          <p:nvPr/>
        </p:nvCxnSpPr>
        <p:spPr>
          <a:xfrm flipV="1">
            <a:off x="9370472" y="2361065"/>
            <a:ext cx="911211" cy="15763"/>
          </a:xfrm>
          <a:prstGeom prst="straightConnector1">
            <a:avLst/>
          </a:prstGeom>
          <a:ln>
            <a:headEnd type="triangle"/>
            <a:tailEnd type="triangle"/>
          </a:ln>
        </p:spPr>
        <p:style>
          <a:lnRef idx="1">
            <a:schemeClr val="accent2"/>
          </a:lnRef>
          <a:fillRef idx="0">
            <a:schemeClr val="accent2"/>
          </a:fillRef>
          <a:effectRef idx="0">
            <a:schemeClr val="accent2"/>
          </a:effectRef>
          <a:fontRef idx="minor">
            <a:schemeClr val="tx1"/>
          </a:fontRef>
        </p:style>
      </p:cxnSp>
      <p:sp>
        <p:nvSpPr>
          <p:cNvPr id="29" name="TextBox 28">
            <a:extLst>
              <a:ext uri="{FF2B5EF4-FFF2-40B4-BE49-F238E27FC236}">
                <a16:creationId xmlns:a16="http://schemas.microsoft.com/office/drawing/2014/main" id="{78645E68-CBD6-75A3-FCF7-5EFB23C6AD67}"/>
              </a:ext>
            </a:extLst>
          </p:cNvPr>
          <p:cNvSpPr txBox="1"/>
          <p:nvPr/>
        </p:nvSpPr>
        <p:spPr>
          <a:xfrm>
            <a:off x="9126279" y="2635564"/>
            <a:ext cx="226830" cy="307777"/>
          </a:xfrm>
          <a:prstGeom prst="rect">
            <a:avLst/>
          </a:prstGeom>
          <a:noFill/>
        </p:spPr>
        <p:txBody>
          <a:bodyPr wrap="square" rtlCol="0">
            <a:spAutoFit/>
          </a:bodyPr>
          <a:lstStyle/>
          <a:p>
            <a:r>
              <a:rPr lang="en-US" dirty="0"/>
              <a:t>1</a:t>
            </a:r>
          </a:p>
        </p:txBody>
      </p:sp>
      <p:sp>
        <p:nvSpPr>
          <p:cNvPr id="30" name="TextBox 29">
            <a:extLst>
              <a:ext uri="{FF2B5EF4-FFF2-40B4-BE49-F238E27FC236}">
                <a16:creationId xmlns:a16="http://schemas.microsoft.com/office/drawing/2014/main" id="{02AB2C0C-F386-01F7-A85D-0ECD10CC1953}"/>
              </a:ext>
            </a:extLst>
          </p:cNvPr>
          <p:cNvSpPr txBox="1"/>
          <p:nvPr/>
        </p:nvSpPr>
        <p:spPr>
          <a:xfrm>
            <a:off x="9656496" y="2076147"/>
            <a:ext cx="489101" cy="307777"/>
          </a:xfrm>
          <a:prstGeom prst="rect">
            <a:avLst/>
          </a:prstGeom>
          <a:noFill/>
        </p:spPr>
        <p:txBody>
          <a:bodyPr wrap="square" rtlCol="0">
            <a:spAutoFit/>
          </a:bodyPr>
          <a:lstStyle/>
          <a:p>
            <a:r>
              <a:rPr lang="en-US" dirty="0"/>
              <a:t>1</a:t>
            </a:r>
          </a:p>
        </p:txBody>
      </p:sp>
    </p:spTree>
    <p:extLst>
      <p:ext uri="{BB962C8B-B14F-4D97-AF65-F5344CB8AC3E}">
        <p14:creationId xmlns:p14="http://schemas.microsoft.com/office/powerpoint/2010/main" val="4017833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par>
                                <p:cTn id="8" presetID="9"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dissolve">
                                      <p:cBhvr>
                                        <p:cTn id="10" dur="500"/>
                                        <p:tgtEl>
                                          <p:spTgt spid="19"/>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dissolve">
                                      <p:cBhvr>
                                        <p:cTn id="16" dur="500"/>
                                        <p:tgtEl>
                                          <p:spTgt spid="21"/>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dissolve">
                                      <p:cBhvr>
                                        <p:cTn id="19" dur="500"/>
                                        <p:tgtEl>
                                          <p:spTgt spid="22"/>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Effect transition="in" filter="dissolve">
                                      <p:cBhvr>
                                        <p:cTn id="25" dur="500"/>
                                        <p:tgtEl>
                                          <p:spTgt spid="2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dissolve">
                                      <p:cBhvr>
                                        <p:cTn id="28" dur="500"/>
                                        <p:tgtEl>
                                          <p:spTgt spid="25"/>
                                        </p:tgtEl>
                                      </p:cBhvr>
                                    </p:animEffect>
                                  </p:childTnLst>
                                </p:cTn>
                              </p:par>
                              <p:par>
                                <p:cTn id="29" presetID="9"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dissolve">
                                      <p:cBhvr>
                                        <p:cTn id="31" dur="500"/>
                                        <p:tgtEl>
                                          <p:spTgt spid="18"/>
                                        </p:tgtEl>
                                      </p:cBhvr>
                                    </p:animEffect>
                                  </p:childTnLst>
                                </p:cTn>
                              </p:par>
                              <p:par>
                                <p:cTn id="32" presetID="9" presetClass="entr" presetSubtype="0"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dissolve">
                                      <p:cBhvr>
                                        <p:cTn id="34" dur="500"/>
                                        <p:tgtEl>
                                          <p:spTgt spid="19"/>
                                        </p:tgtEl>
                                      </p:cBhvr>
                                    </p:animEffect>
                                  </p:childTnLst>
                                </p:cTn>
                              </p:par>
                              <p:par>
                                <p:cTn id="35" presetID="9" presetClass="entr" presetSubtype="0" fill="hold" grpId="1"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dissolve">
                                      <p:cBhvr>
                                        <p:cTn id="37" dur="500"/>
                                        <p:tgtEl>
                                          <p:spTgt spid="20"/>
                                        </p:tgtEl>
                                      </p:cBhvr>
                                    </p:animEffect>
                                  </p:childTnLst>
                                </p:cTn>
                              </p:par>
                              <p:par>
                                <p:cTn id="38" presetID="9" presetClass="entr" presetSubtype="0" fill="hold" grpId="1"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dissolve">
                                      <p:cBhvr>
                                        <p:cTn id="40" dur="500"/>
                                        <p:tgtEl>
                                          <p:spTgt spid="21"/>
                                        </p:tgtEl>
                                      </p:cBhvr>
                                    </p:animEffect>
                                  </p:childTnLst>
                                </p:cTn>
                              </p:par>
                              <p:par>
                                <p:cTn id="41" presetID="9" presetClass="entr" presetSubtype="0" fill="hold" grpId="1"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dissolve">
                                      <p:cBhvr>
                                        <p:cTn id="43" dur="500"/>
                                        <p:tgtEl>
                                          <p:spTgt spid="22"/>
                                        </p:tgtEl>
                                      </p:cBhvr>
                                    </p:animEffect>
                                  </p:childTnLst>
                                </p:cTn>
                              </p:par>
                              <p:par>
                                <p:cTn id="44" presetID="9" presetClass="entr" presetSubtype="0" fill="hold" grpId="1"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dissolve">
                                      <p:cBhvr>
                                        <p:cTn id="46" dur="500"/>
                                        <p:tgtEl>
                                          <p:spTgt spid="23"/>
                                        </p:tgtEl>
                                      </p:cBhvr>
                                    </p:animEffect>
                                  </p:childTnLst>
                                </p:cTn>
                              </p:par>
                              <p:par>
                                <p:cTn id="47" presetID="9" presetClass="entr" presetSubtype="0" fill="hold" grpId="1"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dissolve">
                                      <p:cBhvr>
                                        <p:cTn id="49" dur="500"/>
                                        <p:tgtEl>
                                          <p:spTgt spid="24"/>
                                        </p:tgtEl>
                                      </p:cBhvr>
                                    </p:animEffect>
                                  </p:childTnLst>
                                </p:cTn>
                              </p:par>
                              <p:par>
                                <p:cTn id="50" presetID="9" presetClass="entr" presetSubtype="0" fill="hold" grpId="1"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dissolve">
                                      <p:cBhvr>
                                        <p:cTn id="52" dur="500"/>
                                        <p:tgtEl>
                                          <p:spTgt spid="25"/>
                                        </p:tgtEl>
                                      </p:cBhvr>
                                    </p:animEffect>
                                  </p:childTnLst>
                                </p:cTn>
                              </p:par>
                              <p:par>
                                <p:cTn id="53" presetID="9" presetClass="entr" presetSubtype="0" fill="hold"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dissolve">
                                      <p:cBhvr>
                                        <p:cTn id="55" dur="500"/>
                                        <p:tgtEl>
                                          <p:spTgt spid="27"/>
                                        </p:tgtEl>
                                      </p:cBhvr>
                                    </p:animEffect>
                                  </p:childTnLst>
                                </p:cTn>
                              </p:par>
                              <p:par>
                                <p:cTn id="56" presetID="9" presetClass="entr" presetSubtype="0" fill="hold"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dissolve">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21" grpId="0" animBg="1"/>
      <p:bldP spid="21" grpId="1" animBg="1"/>
      <p:bldP spid="22" grpId="0" animBg="1"/>
      <p:bldP spid="22" grpId="1" animBg="1"/>
      <p:bldP spid="23" grpId="0"/>
      <p:bldP spid="23" grpId="1"/>
      <p:bldP spid="24" grpId="0"/>
      <p:bldP spid="24" grpId="1"/>
      <p:bldP spid="25" grpId="0"/>
      <p:bldP spid="25"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7C5D6-6889-3CBB-24CF-60E4D62BE790}"/>
              </a:ext>
            </a:extLst>
          </p:cNvPr>
          <p:cNvSpPr>
            <a:spLocks noGrp="1"/>
          </p:cNvSpPr>
          <p:nvPr>
            <p:ph type="title"/>
          </p:nvPr>
        </p:nvSpPr>
        <p:spPr/>
        <p:txBody>
          <a:bodyPr/>
          <a:lstStyle/>
          <a:p>
            <a:r>
              <a:rPr lang="en-US" dirty="0"/>
              <a:t>Minkowski Distance for p = 1 vs. p = 2</a:t>
            </a:r>
          </a:p>
        </p:txBody>
      </p:sp>
      <p:sp>
        <p:nvSpPr>
          <p:cNvPr id="3" name="Text Placeholder 2">
            <a:extLst>
              <a:ext uri="{FF2B5EF4-FFF2-40B4-BE49-F238E27FC236}">
                <a16:creationId xmlns:a16="http://schemas.microsoft.com/office/drawing/2014/main" id="{7DED70A0-8388-BBAF-07EC-0166B93B18CC}"/>
              </a:ext>
            </a:extLst>
          </p:cNvPr>
          <p:cNvSpPr>
            <a:spLocks noGrp="1"/>
          </p:cNvSpPr>
          <p:nvPr>
            <p:ph type="body" idx="1"/>
          </p:nvPr>
        </p:nvSpPr>
        <p:spPr/>
        <p:txBody>
          <a:bodyPr/>
          <a:lstStyle/>
          <a:p>
            <a:r>
              <a:rPr lang="en-US" i="1" dirty="0"/>
              <a:t>p=1</a:t>
            </a:r>
          </a:p>
          <a:p>
            <a:pPr lvl="1"/>
            <a:r>
              <a:rPr lang="en-US" dirty="0"/>
              <a:t>Path length such that you can only move along axes</a:t>
            </a:r>
          </a:p>
          <a:p>
            <a:r>
              <a:rPr lang="en-US" i="1" dirty="0"/>
              <a:t>p=2</a:t>
            </a:r>
          </a:p>
          <a:p>
            <a:pPr lvl="1"/>
            <a:r>
              <a:rPr lang="en-US" dirty="0"/>
              <a:t>Straight-line displacement from one point to the other</a:t>
            </a:r>
          </a:p>
        </p:txBody>
      </p:sp>
    </p:spTree>
    <p:extLst>
      <p:ext uri="{BB962C8B-B14F-4D97-AF65-F5344CB8AC3E}">
        <p14:creationId xmlns:p14="http://schemas.microsoft.com/office/powerpoint/2010/main" val="8288219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E9A7A-87BF-00E2-C938-1EF9A1E57C9E}"/>
              </a:ext>
            </a:extLst>
          </p:cNvPr>
          <p:cNvSpPr>
            <a:spLocks noGrp="1"/>
          </p:cNvSpPr>
          <p:nvPr>
            <p:ph type="title"/>
          </p:nvPr>
        </p:nvSpPr>
        <p:spPr/>
        <p:txBody>
          <a:bodyPr/>
          <a:lstStyle/>
          <a:p>
            <a:r>
              <a:rPr lang="en-US" dirty="0"/>
              <a:t>Varying p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EE6AD451-C4CE-1C59-FD1A-C6D07EB98B18}"/>
                  </a:ext>
                </a:extLst>
              </p:cNvPr>
              <p:cNvSpPr>
                <a:spLocks noGrp="1"/>
              </p:cNvSpPr>
              <p:nvPr>
                <p:ph type="body" idx="1"/>
              </p:nvPr>
            </p:nvSpPr>
            <p:spPr/>
            <p:txBody>
              <a:bodyPr/>
              <a:lstStyle/>
              <a:p>
                <a:r>
                  <a:rPr lang="en-US" dirty="0"/>
                  <a:t>As </a:t>
                </a:r>
                <a:r>
                  <a:rPr lang="en-US" i="1" dirty="0"/>
                  <a:t>p</a:t>
                </a:r>
                <a:r>
                  <a:rPr lang="en-US" dirty="0"/>
                  <a:t> increases, the distance will become dominated by the largest coordinate difference</a:t>
                </a:r>
              </a:p>
              <a:p>
                <a:r>
                  <a:rPr lang="en-US" dirty="0"/>
                  <a:t>Distance becomes sensitive to largest deviation</a:t>
                </a:r>
              </a:p>
              <a:p>
                <a:r>
                  <a:rPr lang="en-US" dirty="0"/>
                  <a:t>What happens when </a:t>
                </a:r>
                <a14:m>
                  <m:oMath xmlns:m="http://schemas.openxmlformats.org/officeDocument/2006/math">
                    <m:r>
                      <a:rPr lang="en-US" b="0" i="1" smtClean="0">
                        <a:latin typeface="Cambria Math" panose="02040503050406030204" pitchFamily="18" charset="0"/>
                      </a:rPr>
                      <m:t>0&lt;</m:t>
                    </m:r>
                    <m:r>
                      <m:rPr>
                        <m:sty m:val="p"/>
                      </m:rPr>
                      <a:rPr lang="en-US" b="0" i="1" smtClean="0">
                        <a:latin typeface="Cambria Math" panose="02040503050406030204" pitchFamily="18" charset="0"/>
                      </a:rPr>
                      <m:t>p</m:t>
                    </m:r>
                    <m:r>
                      <a:rPr lang="en-US" b="0" i="1" smtClean="0">
                        <a:latin typeface="Cambria Math" panose="02040503050406030204" pitchFamily="18" charset="0"/>
                      </a:rPr>
                      <m:t>&lt;1</m:t>
                    </m:r>
                  </m:oMath>
                </a14:m>
                <a:r>
                  <a:rPr lang="en-US" dirty="0"/>
                  <a:t>?</a:t>
                </a:r>
              </a:p>
              <a:p>
                <a:pPr lvl="1"/>
                <a:r>
                  <a:rPr lang="en-US" dirty="0"/>
                  <a:t>We can prove a violation of the triangle inequality property of distance functions</a:t>
                </a:r>
              </a:p>
              <a:p>
                <a:pPr lvl="1"/>
                <a:r>
                  <a:rPr lang="en-US" dirty="0"/>
                  <a:t>No longer a distance function!</a:t>
                </a:r>
              </a:p>
              <a:p>
                <a:pPr marL="152396" indent="0">
                  <a:buNone/>
                </a:pPr>
                <a:endParaRPr lang="en-US"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EE6AD451-C4CE-1C59-FD1A-C6D07EB98B18}"/>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01093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63FD3-74B1-F6BD-4B45-7F750CB3D491}"/>
              </a:ext>
            </a:extLst>
          </p:cNvPr>
          <p:cNvSpPr>
            <a:spLocks noGrp="1"/>
          </p:cNvSpPr>
          <p:nvPr>
            <p:ph type="title"/>
          </p:nvPr>
        </p:nvSpPr>
        <p:spPr/>
        <p:txBody>
          <a:bodyPr/>
          <a:lstStyle/>
          <a:p>
            <a:r>
              <a:rPr lang="en-US" dirty="0"/>
              <a:t>Similarity</a:t>
            </a:r>
          </a:p>
        </p:txBody>
      </p:sp>
      <p:sp>
        <p:nvSpPr>
          <p:cNvPr id="3" name="Text Placeholder 2">
            <a:extLst>
              <a:ext uri="{FF2B5EF4-FFF2-40B4-BE49-F238E27FC236}">
                <a16:creationId xmlns:a16="http://schemas.microsoft.com/office/drawing/2014/main" id="{62432800-9990-954D-D127-F933F41DAB3B}"/>
              </a:ext>
            </a:extLst>
          </p:cNvPr>
          <p:cNvSpPr>
            <a:spLocks noGrp="1"/>
          </p:cNvSpPr>
          <p:nvPr>
            <p:ph type="body" idx="1"/>
          </p:nvPr>
        </p:nvSpPr>
        <p:spPr/>
        <p:txBody>
          <a:bodyPr/>
          <a:lstStyle/>
          <a:p>
            <a:r>
              <a:rPr lang="en-US" dirty="0"/>
              <a:t>How similar are the following images?</a:t>
            </a:r>
          </a:p>
          <a:p>
            <a:pPr marL="152396" indent="0">
              <a:buNone/>
            </a:pPr>
            <a:endParaRPr lang="en-US"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752635D7-2CCB-E538-406A-0C80FA7A764F}"/>
                  </a:ext>
                </a:extLst>
              </p:cNvPr>
              <p:cNvGraphicFramePr>
                <a:graphicFrameLocks noGrp="1"/>
              </p:cNvGraphicFramePr>
              <p:nvPr>
                <p:extLst>
                  <p:ext uri="{D42A27DB-BD31-4B8C-83A1-F6EECF244321}">
                    <p14:modId xmlns:p14="http://schemas.microsoft.com/office/powerpoint/2010/main" val="1174242054"/>
                  </p:ext>
                </p:extLst>
              </p:nvPr>
            </p:nvGraphicFramePr>
            <p:xfrm>
              <a:off x="2032000" y="2301048"/>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𝟏</m:t>
                                    </m:r>
                                  </m:sub>
                                </m:sSub>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3124064189"/>
                      </a:ext>
                    </a:extLst>
                  </a:tr>
                  <a:tr h="370840">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Choice>
        <mc:Fallback xmlns="">
          <p:graphicFrame>
            <p:nvGraphicFramePr>
              <p:cNvPr id="4" name="Table 3">
                <a:extLst>
                  <a:ext uri="{FF2B5EF4-FFF2-40B4-BE49-F238E27FC236}">
                    <a16:creationId xmlns:a16="http://schemas.microsoft.com/office/drawing/2014/main" id="{752635D7-2CCB-E538-406A-0C80FA7A764F}"/>
                  </a:ext>
                </a:extLst>
              </p:cNvPr>
              <p:cNvGraphicFramePr>
                <a:graphicFrameLocks noGrp="1"/>
              </p:cNvGraphicFramePr>
              <p:nvPr>
                <p:extLst>
                  <p:ext uri="{D42A27DB-BD31-4B8C-83A1-F6EECF244321}">
                    <p14:modId xmlns:p14="http://schemas.microsoft.com/office/powerpoint/2010/main" val="1174242054"/>
                  </p:ext>
                </p:extLst>
              </p:nvPr>
            </p:nvGraphicFramePr>
            <p:xfrm>
              <a:off x="2032000" y="2301048"/>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660527">
                    <a:tc>
                      <a:txBody>
                        <a:bodyPr/>
                        <a:lstStyle/>
                        <a:p>
                          <a:endParaRPr lang="en-US" dirty="0"/>
                        </a:p>
                      </a:txBody>
                      <a:tcPr/>
                    </a:tc>
                    <a:tc>
                      <a:txBody>
                        <a:bodyPr/>
                        <a:lstStyle/>
                        <a:p>
                          <a:endParaRPr lang="en-US"/>
                        </a:p>
                      </a:txBody>
                      <a:tcPr>
                        <a:blipFill>
                          <a:blip r:embed="rId2"/>
                          <a:stretch>
                            <a:fillRect l="-103125" t="-3846" r="-304688" b="-213462"/>
                          </a:stretch>
                        </a:blipFill>
                      </a:tcPr>
                    </a:tc>
                    <a:tc>
                      <a:txBody>
                        <a:bodyPr/>
                        <a:lstStyle/>
                        <a:p>
                          <a:endParaRPr lang="en-US"/>
                        </a:p>
                      </a:txBody>
                      <a:tcPr>
                        <a:blipFill>
                          <a:blip r:embed="rId2"/>
                          <a:stretch>
                            <a:fillRect l="-203125" t="-3846" r="-204688" b="-213462"/>
                          </a:stretch>
                        </a:blipFill>
                      </a:tcPr>
                    </a:tc>
                    <a:tc>
                      <a:txBody>
                        <a:bodyPr/>
                        <a:lstStyle/>
                        <a:p>
                          <a:endParaRPr lang="en-US"/>
                        </a:p>
                      </a:txBody>
                      <a:tcPr>
                        <a:blipFill>
                          <a:blip r:embed="rId2"/>
                          <a:stretch>
                            <a:fillRect l="-303125" t="-3846" r="-104688" b="-213462"/>
                          </a:stretch>
                        </a:blipFill>
                      </a:tcPr>
                    </a:tc>
                    <a:tc>
                      <a:txBody>
                        <a:bodyPr/>
                        <a:lstStyle/>
                        <a:p>
                          <a:endParaRPr lang="en-US"/>
                        </a:p>
                      </a:txBody>
                      <a:tcPr>
                        <a:blipFill>
                          <a:blip r:embed="rId2"/>
                          <a:stretch>
                            <a:fillRect l="-403125" t="-3846" r="-4688" b="-213462"/>
                          </a:stretch>
                        </a:blipFill>
                      </a:tcPr>
                    </a:tc>
                    <a:extLst>
                      <a:ext uri="{0D108BD9-81ED-4DB2-BD59-A6C34878D82A}">
                        <a16:rowId xmlns:a16="http://schemas.microsoft.com/office/drawing/2014/main" val="3124064189"/>
                      </a:ext>
                    </a:extLst>
                  </a:tr>
                  <a:tr h="660527">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2"/>
                          <a:stretch>
                            <a:fillRect l="-303125" t="-101887" r="-104688" b="-109434"/>
                          </a:stretch>
                        </a:blipFill>
                      </a:tcPr>
                    </a:tc>
                    <a:tc>
                      <a:txBody>
                        <a:bodyPr/>
                        <a:lstStyle/>
                        <a:p>
                          <a:pPr algn="ctr"/>
                          <a:r>
                            <a:rPr lang="en-US" dirty="0"/>
                            <a:t>1</a:t>
                          </a:r>
                        </a:p>
                      </a:txBody>
                      <a:tcPr/>
                    </a:tc>
                    <a:extLst>
                      <a:ext uri="{0D108BD9-81ED-4DB2-BD59-A6C34878D82A}">
                        <a16:rowId xmlns:a16="http://schemas.microsoft.com/office/drawing/2014/main" val="3395370511"/>
                      </a:ext>
                    </a:extLst>
                  </a:tr>
                  <a:tr h="660527">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2"/>
                          <a:stretch>
                            <a:fillRect l="-303125" t="-205769" r="-104688" b="-11538"/>
                          </a:stretch>
                        </a:blipFill>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Fallback>
      </mc:AlternateContent>
    </p:spTree>
    <p:extLst>
      <p:ext uri="{BB962C8B-B14F-4D97-AF65-F5344CB8AC3E}">
        <p14:creationId xmlns:p14="http://schemas.microsoft.com/office/powerpoint/2010/main" val="13572882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A512-8E50-B254-2E91-47A334C44B1A}"/>
              </a:ext>
            </a:extLst>
          </p:cNvPr>
          <p:cNvSpPr>
            <a:spLocks noGrp="1"/>
          </p:cNvSpPr>
          <p:nvPr>
            <p:ph type="title"/>
          </p:nvPr>
        </p:nvSpPr>
        <p:spPr/>
        <p:txBody>
          <a:bodyPr/>
          <a:lstStyle/>
          <a:p>
            <a:r>
              <a:rPr lang="en-US" dirty="0"/>
              <a:t>Jaccard Similarity</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21F181D-8CCA-2A6D-96C0-42D978E8E6B0}"/>
                  </a:ext>
                </a:extLst>
              </p:cNvPr>
              <p:cNvSpPr>
                <a:spLocks noGrp="1"/>
              </p:cNvSpPr>
              <p:nvPr>
                <p:ph type="body" idx="1"/>
              </p:nvPr>
            </p:nvSpPr>
            <p:spPr/>
            <p:txBody>
              <a:bodyPr/>
              <a:lstStyle/>
              <a:p>
                <a14:m>
                  <m:oMath xmlns:m="http://schemas.openxmlformats.org/officeDocument/2006/math">
                    <m:r>
                      <a:rPr lang="en-US" b="0" i="1" smtClean="0">
                        <a:latin typeface="Cambria Math" panose="02040503050406030204" pitchFamily="18" charset="0"/>
                      </a:rPr>
                      <m:t>𝐽𝑆𝑖𝑚</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a:rPr lang="en-US" b="0" i="0" smtClean="0">
                        <a:latin typeface="Cambria Math" panose="02040503050406030204" pitchFamily="18" charset="0"/>
                      </a:rPr>
                      <m:t>=</m:t>
                    </m:r>
                    <m:f>
                      <m:fPr>
                        <m:ctrlPr>
                          <a:rPr lang="en-US" b="0" i="1" smtClean="0">
                            <a:latin typeface="Cambria Math" panose="02040503050406030204" pitchFamily="18" charset="0"/>
                          </a:rPr>
                        </m:ctrlPr>
                      </m:fPr>
                      <m:num>
                        <m:r>
                          <m:rPr>
                            <m:nor/>
                          </m:rPr>
                          <a:rPr lang="en-US" b="0" i="0" smtClean="0">
                            <a:latin typeface="Cambria Math" panose="02040503050406030204" pitchFamily="18" charset="0"/>
                          </a:rPr>
                          <m:t>total</m:t>
                        </m:r>
                        <m:r>
                          <m:rPr>
                            <m:nor/>
                          </m:rPr>
                          <a:rPr lang="en-US" b="0" i="0" smtClean="0">
                            <a:latin typeface="Cambria Math" panose="02040503050406030204" pitchFamily="18" charset="0"/>
                          </a:rPr>
                          <m:t> # </m:t>
                        </m:r>
                        <m:r>
                          <m:rPr>
                            <m:nor/>
                          </m:rPr>
                          <a:rPr lang="en-US" b="0" i="0" smtClean="0">
                            <a:latin typeface="Cambria Math" panose="02040503050406030204" pitchFamily="18" charset="0"/>
                          </a:rPr>
                          <m:t>matching</m:t>
                        </m:r>
                      </m:num>
                      <m:den>
                        <m:r>
                          <m:rPr>
                            <m:nor/>
                          </m:rPr>
                          <a:rPr lang="en-US" b="0" i="0" smtClean="0">
                            <a:latin typeface="Cambria Math" panose="02040503050406030204" pitchFamily="18" charset="0"/>
                          </a:rPr>
                          <m:t>total</m:t>
                        </m:r>
                        <m:r>
                          <m:rPr>
                            <m:nor/>
                          </m:rPr>
                          <a:rPr lang="en-US" b="0" i="0" smtClean="0">
                            <a:latin typeface="Cambria Math" panose="02040503050406030204" pitchFamily="18" charset="0"/>
                          </a:rPr>
                          <m:t> # </m:t>
                        </m:r>
                        <m:r>
                          <m:rPr>
                            <m:nor/>
                          </m:rPr>
                          <a:rPr lang="en-US" b="0" i="0" smtClean="0">
                            <a:latin typeface="Cambria Math" panose="02040503050406030204" pitchFamily="18" charset="0"/>
                          </a:rPr>
                          <m:t>pixels</m:t>
                        </m:r>
                      </m:den>
                    </m:f>
                  </m:oMath>
                </a14:m>
                <a:endParaRPr lang="en-US" b="0" dirty="0"/>
              </a:p>
              <a:p>
                <a:endParaRPr lang="en-US" dirty="0"/>
              </a:p>
              <a:p>
                <a:endParaRPr lang="en-US" b="0" dirty="0"/>
              </a:p>
              <a:p>
                <a:endParaRPr lang="en-US" dirty="0"/>
              </a:p>
              <a:p>
                <a:endParaRPr lang="en-US" b="0" dirty="0"/>
              </a:p>
              <a:p>
                <a:endParaRPr lang="en-US" dirty="0"/>
              </a:p>
              <a:p>
                <a:endParaRPr lang="en-US" b="0" dirty="0"/>
              </a:p>
              <a:p>
                <a:endParaRPr lang="en-US" dirty="0"/>
              </a:p>
              <a:p>
                <a:endParaRPr lang="en-US" b="0" dirty="0"/>
              </a:p>
              <a:p>
                <a:r>
                  <a:rPr lang="en-US" dirty="0"/>
                  <a:t>Jaccard similarity tells us how similar the data points are. Jaccard distance will tell us how dissimilar they are:</a:t>
                </a:r>
              </a:p>
              <a:p>
                <a:pPr lvl="1"/>
                <a14:m>
                  <m:oMath xmlns:m="http://schemas.openxmlformats.org/officeDocument/2006/math">
                    <m:r>
                      <a:rPr lang="en-US" b="0" i="1" smtClean="0">
                        <a:latin typeface="Cambria Math" panose="02040503050406030204" pitchFamily="18" charset="0"/>
                      </a:rPr>
                      <m:t>𝐽</m:t>
                    </m:r>
                    <m:r>
                      <m:rPr>
                        <m:sty m:val="p"/>
                      </m:rPr>
                      <a:rPr lang="en-US" b="0" i="1" smtClean="0">
                        <a:latin typeface="Cambria Math" panose="02040503050406030204" pitchFamily="18" charset="0"/>
                      </a:rPr>
                      <m:t>D</m:t>
                    </m:r>
                    <m:r>
                      <a:rPr lang="en-US" b="0" i="1" smtClean="0">
                        <a:latin typeface="Cambria Math" panose="02040503050406030204" pitchFamily="18" charset="0"/>
                      </a:rPr>
                      <m:t>𝑖𝑠𝑡</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=1–</m:t>
                    </m:r>
                    <m:r>
                      <a:rPr lang="en-US" b="0" i="1" smtClean="0">
                        <a:latin typeface="Cambria Math" panose="02040503050406030204" pitchFamily="18" charset="0"/>
                      </a:rPr>
                      <m:t>𝐽</m:t>
                    </m:r>
                    <m:r>
                      <m:rPr>
                        <m:sty m:val="p"/>
                      </m:rPr>
                      <a:rPr lang="en-US" b="0" i="1" smtClean="0">
                        <a:latin typeface="Cambria Math" panose="02040503050406030204" pitchFamily="18" charset="0"/>
                      </a:rPr>
                      <m:t>S</m:t>
                    </m:r>
                    <m:r>
                      <a:rPr lang="en-US" b="0" i="1" smtClean="0">
                        <a:latin typeface="Cambria Math" panose="02040503050406030204" pitchFamily="18" charset="0"/>
                      </a:rPr>
                      <m:t>𝑖𝑚</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oMath>
                </a14:m>
                <a:endParaRPr lang="en-US" b="0" dirty="0"/>
              </a:p>
              <a:p>
                <a:pPr lvl="1"/>
                <a:endParaRPr lang="en-US" b="0" dirty="0"/>
              </a:p>
              <a:p>
                <a:pPr lvl="1"/>
                <a:endParaRPr lang="en-US" b="0" dirty="0"/>
              </a:p>
              <a:p>
                <a:pPr marL="152396" indent="0">
                  <a:buNone/>
                </a:pPr>
                <a:endParaRPr lang="en-US" b="0" dirty="0"/>
              </a:p>
              <a:p>
                <a:endParaRPr lang="en-US" b="0" dirty="0"/>
              </a:p>
              <a:p>
                <a:endParaRPr lang="en-US" b="0" dirty="0"/>
              </a:p>
              <a:p>
                <a:endParaRPr lang="en-US" dirty="0"/>
              </a:p>
            </p:txBody>
          </p:sp>
        </mc:Choice>
        <mc:Fallback xmlns="">
          <p:sp>
            <p:nvSpPr>
              <p:cNvPr id="3" name="Text Placeholder 2">
                <a:extLst>
                  <a:ext uri="{FF2B5EF4-FFF2-40B4-BE49-F238E27FC236}">
                    <a16:creationId xmlns:a16="http://schemas.microsoft.com/office/drawing/2014/main" id="{C21F181D-8CCA-2A6D-96C0-42D978E8E6B0}"/>
                  </a:ext>
                </a:extLst>
              </p:cNvPr>
              <p:cNvSpPr>
                <a:spLocks noGrp="1" noRot="1" noChangeAspect="1" noMove="1" noResize="1" noEditPoints="1" noAdjustHandles="1" noChangeArrowheads="1" noChangeShapeType="1" noTextEdit="1"/>
              </p:cNvSpPr>
              <p:nvPr>
                <p:ph type="body" idx="1"/>
              </p:nvPr>
            </p:nvSpPr>
            <p:spPr>
              <a:blipFill>
                <a:blip r:embed="rId2"/>
                <a:stretch>
                  <a:fillRect r="-2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81B0A8D-3082-C935-FEC1-580EB1D73494}"/>
                  </a:ext>
                </a:extLst>
              </p:cNvPr>
              <p:cNvGraphicFramePr>
                <a:graphicFrameLocks noGrp="1"/>
              </p:cNvGraphicFramePr>
              <p:nvPr>
                <p:extLst>
                  <p:ext uri="{D42A27DB-BD31-4B8C-83A1-F6EECF244321}">
                    <p14:modId xmlns:p14="http://schemas.microsoft.com/office/powerpoint/2010/main" val="448119818"/>
                  </p:ext>
                </p:extLst>
              </p:nvPr>
            </p:nvGraphicFramePr>
            <p:xfrm>
              <a:off x="2106428" y="2662555"/>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𝟏</m:t>
                                    </m:r>
                                  </m:sub>
                                </m:sSub>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3124064189"/>
                      </a:ext>
                    </a:extLst>
                  </a:tr>
                  <a:tr h="370840">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m:t>
                                </m:r>
                              </m:oMath>
                            </m:oMathPara>
                          </a14:m>
                          <a:endParaRPr lang="en-US" b="1" dirty="0"/>
                        </a:p>
                        <a:p>
                          <a:endParaRPr lang="en-US" dirty="0"/>
                        </a:p>
                      </a:txBody>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Choice>
        <mc:Fallback xmlns="">
          <p:graphicFrame>
            <p:nvGraphicFramePr>
              <p:cNvPr id="4" name="Table 3">
                <a:extLst>
                  <a:ext uri="{FF2B5EF4-FFF2-40B4-BE49-F238E27FC236}">
                    <a16:creationId xmlns:a16="http://schemas.microsoft.com/office/drawing/2014/main" id="{381B0A8D-3082-C935-FEC1-580EB1D73494}"/>
                  </a:ext>
                </a:extLst>
              </p:cNvPr>
              <p:cNvGraphicFramePr>
                <a:graphicFrameLocks noGrp="1"/>
              </p:cNvGraphicFramePr>
              <p:nvPr>
                <p:extLst>
                  <p:ext uri="{D42A27DB-BD31-4B8C-83A1-F6EECF244321}">
                    <p14:modId xmlns:p14="http://schemas.microsoft.com/office/powerpoint/2010/main" val="448119818"/>
                  </p:ext>
                </p:extLst>
              </p:nvPr>
            </p:nvGraphicFramePr>
            <p:xfrm>
              <a:off x="2106428" y="2662555"/>
              <a:ext cx="8128000" cy="1981581"/>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660527">
                    <a:tc>
                      <a:txBody>
                        <a:bodyPr/>
                        <a:lstStyle/>
                        <a:p>
                          <a:endParaRPr lang="en-US" dirty="0"/>
                        </a:p>
                      </a:txBody>
                      <a:tcPr/>
                    </a:tc>
                    <a:tc>
                      <a:txBody>
                        <a:bodyPr/>
                        <a:lstStyle/>
                        <a:p>
                          <a:endParaRPr lang="en-US"/>
                        </a:p>
                      </a:txBody>
                      <a:tcPr>
                        <a:blipFill>
                          <a:blip r:embed="rId3"/>
                          <a:stretch>
                            <a:fillRect l="-102344" t="-3846" r="-305469" b="-213462"/>
                          </a:stretch>
                        </a:blipFill>
                      </a:tcPr>
                    </a:tc>
                    <a:tc>
                      <a:txBody>
                        <a:bodyPr/>
                        <a:lstStyle/>
                        <a:p>
                          <a:endParaRPr lang="en-US"/>
                        </a:p>
                      </a:txBody>
                      <a:tcPr>
                        <a:blipFill>
                          <a:blip r:embed="rId3"/>
                          <a:stretch>
                            <a:fillRect l="-200775" t="-3846" r="-203101" b="-213462"/>
                          </a:stretch>
                        </a:blipFill>
                      </a:tcPr>
                    </a:tc>
                    <a:tc>
                      <a:txBody>
                        <a:bodyPr/>
                        <a:lstStyle/>
                        <a:p>
                          <a:endParaRPr lang="en-US"/>
                        </a:p>
                      </a:txBody>
                      <a:tcPr>
                        <a:blipFill>
                          <a:blip r:embed="rId3"/>
                          <a:stretch>
                            <a:fillRect l="-303125" t="-3846" r="-104688" b="-213462"/>
                          </a:stretch>
                        </a:blipFill>
                      </a:tcPr>
                    </a:tc>
                    <a:tc>
                      <a:txBody>
                        <a:bodyPr/>
                        <a:lstStyle/>
                        <a:p>
                          <a:endParaRPr lang="en-US"/>
                        </a:p>
                      </a:txBody>
                      <a:tcPr>
                        <a:blipFill>
                          <a:blip r:embed="rId3"/>
                          <a:stretch>
                            <a:fillRect l="-403125" t="-3846" r="-4688" b="-213462"/>
                          </a:stretch>
                        </a:blipFill>
                      </a:tcPr>
                    </a:tc>
                    <a:extLst>
                      <a:ext uri="{0D108BD9-81ED-4DB2-BD59-A6C34878D82A}">
                        <a16:rowId xmlns:a16="http://schemas.microsoft.com/office/drawing/2014/main" val="3124064189"/>
                      </a:ext>
                    </a:extLst>
                  </a:tr>
                  <a:tr h="660527">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endParaRPr lang="en-US"/>
                        </a:p>
                      </a:txBody>
                      <a:tcPr>
                        <a:blipFill>
                          <a:blip r:embed="rId3"/>
                          <a:stretch>
                            <a:fillRect l="-303125" t="-101887" r="-104688" b="-109434"/>
                          </a:stretch>
                        </a:blipFill>
                      </a:tcPr>
                    </a:tc>
                    <a:tc>
                      <a:txBody>
                        <a:bodyPr/>
                        <a:lstStyle/>
                        <a:p>
                          <a:pPr algn="ctr"/>
                          <a:r>
                            <a:rPr lang="en-US" dirty="0"/>
                            <a:t>1</a:t>
                          </a:r>
                        </a:p>
                      </a:txBody>
                      <a:tcPr/>
                    </a:tc>
                    <a:extLst>
                      <a:ext uri="{0D108BD9-81ED-4DB2-BD59-A6C34878D82A}">
                        <a16:rowId xmlns:a16="http://schemas.microsoft.com/office/drawing/2014/main" val="3395370511"/>
                      </a:ext>
                    </a:extLst>
                  </a:tr>
                  <a:tr h="660527">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endParaRPr lang="en-US"/>
                        </a:p>
                      </a:txBody>
                      <a:tcPr>
                        <a:blipFill>
                          <a:blip r:embed="rId3"/>
                          <a:stretch>
                            <a:fillRect l="-303125" t="-205769" r="-104688" b="-11538"/>
                          </a:stretch>
                        </a:blipFill>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Fallback>
      </mc:AlternateContent>
    </p:spTree>
    <p:extLst>
      <p:ext uri="{BB962C8B-B14F-4D97-AF65-F5344CB8AC3E}">
        <p14:creationId xmlns:p14="http://schemas.microsoft.com/office/powerpoint/2010/main" val="1145302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E5F6E83-3CC8-F59B-162D-60DCF9B9BA54}"/>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2C6F8F8-60B1-F97E-AC30-112EF4C76C01}"/>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Jaccard Similarity between image 1 and image 2?</a:t>
            </a:r>
          </a:p>
        </p:txBody>
      </p:sp>
      <p:sp>
        <p:nvSpPr>
          <p:cNvPr id="4" name="Rectangle 3">
            <a:extLst>
              <a:ext uri="{FF2B5EF4-FFF2-40B4-BE49-F238E27FC236}">
                <a16:creationId xmlns:a16="http://schemas.microsoft.com/office/drawing/2014/main" id="{F8470ECD-5570-15EA-839E-96F4CA45CA18}"/>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0E05D28B-8D88-66AA-C1D4-32EB528D1B9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B85A1EF0-28EA-9775-42FF-AEFF3F2E1EE3}"/>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498FEE2E-A6D4-230C-B968-D2AC809D6166}"/>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776818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0596C-87C7-C3AE-DCE1-E5AD592A4FA9}"/>
              </a:ext>
            </a:extLst>
          </p:cNvPr>
          <p:cNvSpPr>
            <a:spLocks noGrp="1"/>
          </p:cNvSpPr>
          <p:nvPr>
            <p:ph type="title"/>
          </p:nvPr>
        </p:nvSpPr>
        <p:spPr/>
        <p:txBody>
          <a:bodyPr/>
          <a:lstStyle/>
          <a:p>
            <a:r>
              <a:rPr lang="en-US" dirty="0"/>
              <a:t>Jaccard Similarity (cont.)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38717880-CC89-7379-9C1B-F4D990E13DC1}"/>
                  </a:ext>
                </a:extLst>
              </p:cNvPr>
              <p:cNvSpPr>
                <a:spLocks noGrp="1"/>
              </p:cNvSpPr>
              <p:nvPr>
                <p:ph type="body" idx="1"/>
              </p:nvPr>
            </p:nvSpPr>
            <p:spPr/>
            <p:txBody>
              <a:bodyPr/>
              <a:lstStyle/>
              <a:p>
                <a:pPr marL="152396" indent="0">
                  <a:buNone/>
                </a:pPr>
                <a:endParaRPr lang="en-US" dirty="0"/>
              </a:p>
              <a:p>
                <a:pPr marL="152396" indent="0">
                  <a:buNone/>
                </a:pPr>
                <a:endParaRPr lang="en-US" dirty="0"/>
              </a:p>
              <a:p>
                <a:pPr marL="152396" indent="0">
                  <a:buNone/>
                </a:pPr>
                <a:endParaRPr lang="en-US" dirty="0"/>
              </a:p>
              <a:p>
                <a:pPr marL="152396" indent="0">
                  <a:buNone/>
                </a:pPr>
                <a:endParaRPr lang="en-US" dirty="0"/>
              </a:p>
              <a:p>
                <a:pPr marL="152396" indent="0">
                  <a:buNone/>
                </a:pPr>
                <a:endParaRPr lang="en-US" dirty="0"/>
              </a:p>
              <a:p>
                <a:pPr marL="152396" indent="0">
                  <a:buNone/>
                </a:pPr>
                <a:endParaRPr lang="en-US"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m:t>
                      </m:r>
                      <m:r>
                        <m:rPr>
                          <m:sty m:val="p"/>
                        </m:rPr>
                        <a:rPr lang="en-US" b="0" i="1" smtClean="0">
                          <a:latin typeface="Cambria Math" panose="02040503050406030204" pitchFamily="18" charset="0"/>
                        </a:rPr>
                        <m:t>S</m:t>
                      </m:r>
                      <m:r>
                        <a:rPr lang="en-US" b="0" i="1" smtClean="0">
                          <a:latin typeface="Cambria Math" panose="02040503050406030204" pitchFamily="18" charset="0"/>
                        </a:rPr>
                        <m:t>𝑖𝑚</m:t>
                      </m:r>
                      <m:d>
                        <m:dPr>
                          <m:ctrlPr>
                            <a:rPr lang="en-US" b="0" i="1" smtClean="0">
                              <a:latin typeface="Cambria Math" panose="02040503050406030204" pitchFamily="18" charset="0"/>
                            </a:rPr>
                          </m:ctrlPr>
                        </m:dPr>
                        <m:e>
                          <m:r>
                            <a:rPr lang="en-US" b="0" i="1" smtClean="0">
                              <a:latin typeface="Cambria Math" panose="02040503050406030204" pitchFamily="18" charset="0"/>
                            </a:rPr>
                            <m:t>𝐼𝑚𝑎𝑔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𝐼𝑚𝑎𝑔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oMath>
                  </m:oMathPara>
                </a14:m>
                <a:endParaRPr lang="en-US" b="0" dirty="0"/>
              </a:p>
              <a:p>
                <a:pPr marL="152396"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𝐽𝐷𝑖𝑠𝑡</m:t>
                      </m:r>
                      <m:d>
                        <m:dPr>
                          <m:ctrlPr>
                            <a:rPr lang="en-US" b="0" i="1" smtClean="0">
                              <a:latin typeface="Cambria Math" panose="02040503050406030204" pitchFamily="18" charset="0"/>
                            </a:rPr>
                          </m:ctrlPr>
                        </m:dPr>
                        <m:e>
                          <m:r>
                            <a:rPr lang="en-US" b="0" i="1" smtClean="0">
                              <a:latin typeface="Cambria Math" panose="02040503050406030204" pitchFamily="18" charset="0"/>
                            </a:rPr>
                            <m:t>𝐼𝑚𝑎𝑔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𝐼𝑚𝑎𝑔</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2</m:t>
                              </m:r>
                            </m:sub>
                          </m:sSub>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4</m:t>
                          </m:r>
                        </m:den>
                      </m:f>
                    </m:oMath>
                  </m:oMathPara>
                </a14:m>
                <a:endParaRPr lang="en-US" b="0" dirty="0"/>
              </a:p>
              <a:p>
                <a:pPr marL="152396" indent="0">
                  <a:buNone/>
                </a:pPr>
                <a:endParaRPr lang="en-US" b="0" dirty="0"/>
              </a:p>
              <a:p>
                <a:pPr marL="152396" indent="0">
                  <a:buNone/>
                </a:pPr>
                <a:endParaRPr lang="en-US" dirty="0"/>
              </a:p>
            </p:txBody>
          </p:sp>
        </mc:Choice>
        <mc:Fallback xmlns="">
          <p:sp>
            <p:nvSpPr>
              <p:cNvPr id="3" name="Text Placeholder 2">
                <a:extLst>
                  <a:ext uri="{FF2B5EF4-FFF2-40B4-BE49-F238E27FC236}">
                    <a16:creationId xmlns:a16="http://schemas.microsoft.com/office/drawing/2014/main" id="{38717880-CC89-7379-9C1B-F4D990E13DC1}"/>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3D5F37E-A801-AB8B-5392-08A160390253}"/>
                  </a:ext>
                </a:extLst>
              </p:cNvPr>
              <p:cNvGraphicFramePr>
                <a:graphicFrameLocks noGrp="1"/>
              </p:cNvGraphicFramePr>
              <p:nvPr>
                <p:extLst>
                  <p:ext uri="{D42A27DB-BD31-4B8C-83A1-F6EECF244321}">
                    <p14:modId xmlns:p14="http://schemas.microsoft.com/office/powerpoint/2010/main" val="1584917058"/>
                  </p:ext>
                </p:extLst>
              </p:nvPr>
            </p:nvGraphicFramePr>
            <p:xfrm>
              <a:off x="1915042" y="1731962"/>
              <a:ext cx="8128000" cy="1697038"/>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370840">
                    <a:tc>
                      <a:txBody>
                        <a:bodyPr/>
                        <a:lstStyle/>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𝟏</m:t>
                                    </m:r>
                                  </m:sub>
                                </m:sSub>
                              </m:oMath>
                            </m:oMathPara>
                          </a14:m>
                          <a:endParaRPr lang="en-US" b="1" dirty="0"/>
                        </a:p>
                        <a:p>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2</m:t>
                                    </m:r>
                                  </m:sub>
                                </m:sSub>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𝟑</m:t>
                                    </m:r>
                                  </m:sub>
                                </m:sSub>
                              </m:oMath>
                            </m:oMathPara>
                          </a14:m>
                          <a:endParaRPr lang="en-US" b="1" dirty="0"/>
                        </a:p>
                      </a:txBody>
                      <a:tcPr/>
                    </a:tc>
                    <a:tc>
                      <a:txBody>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𝒑</m:t>
                                    </m:r>
                                  </m:e>
                                  <m:sub>
                                    <m:r>
                                      <a:rPr lang="en-US" b="1" i="1" smtClean="0">
                                        <a:latin typeface="Cambria Math" panose="02040503050406030204" pitchFamily="18" charset="0"/>
                                      </a:rPr>
                                      <m:t>4</m:t>
                                    </m:r>
                                  </m:sub>
                                </m:sSub>
                              </m:oMath>
                            </m:oMathPara>
                          </a14:m>
                          <a:endParaRPr lang="en-US" dirty="0"/>
                        </a:p>
                      </a:txBody>
                      <a:tcPr/>
                    </a:tc>
                    <a:extLst>
                      <a:ext uri="{0D108BD9-81ED-4DB2-BD59-A6C34878D82A}">
                        <a16:rowId xmlns:a16="http://schemas.microsoft.com/office/drawing/2014/main" val="3124064189"/>
                      </a:ext>
                    </a:extLst>
                  </a:tr>
                  <a:tr h="370840">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0</a:t>
                          </a:r>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0840">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Choice>
        <mc:Fallback xmlns="">
          <p:graphicFrame>
            <p:nvGraphicFramePr>
              <p:cNvPr id="4" name="Table 3">
                <a:extLst>
                  <a:ext uri="{FF2B5EF4-FFF2-40B4-BE49-F238E27FC236}">
                    <a16:creationId xmlns:a16="http://schemas.microsoft.com/office/drawing/2014/main" id="{03D5F37E-A801-AB8B-5392-08A160390253}"/>
                  </a:ext>
                </a:extLst>
              </p:cNvPr>
              <p:cNvGraphicFramePr>
                <a:graphicFrameLocks noGrp="1"/>
              </p:cNvGraphicFramePr>
              <p:nvPr>
                <p:extLst>
                  <p:ext uri="{D42A27DB-BD31-4B8C-83A1-F6EECF244321}">
                    <p14:modId xmlns:p14="http://schemas.microsoft.com/office/powerpoint/2010/main" val="1584917058"/>
                  </p:ext>
                </p:extLst>
              </p:nvPr>
            </p:nvGraphicFramePr>
            <p:xfrm>
              <a:off x="1915042" y="1731962"/>
              <a:ext cx="8128000" cy="1697038"/>
            </p:xfrm>
            <a:graphic>
              <a:graphicData uri="http://schemas.openxmlformats.org/drawingml/2006/table">
                <a:tbl>
                  <a:tblPr firstRow="1" bandRow="1">
                    <a:tableStyleId>{D113A9D2-9D6B-4929-AA2D-F23B5EE8CBE7}</a:tableStyleId>
                  </a:tblPr>
                  <a:tblGrid>
                    <a:gridCol w="1625600">
                      <a:extLst>
                        <a:ext uri="{9D8B030D-6E8A-4147-A177-3AD203B41FA5}">
                          <a16:colId xmlns:a16="http://schemas.microsoft.com/office/drawing/2014/main" val="1066441368"/>
                        </a:ext>
                      </a:extLst>
                    </a:gridCol>
                    <a:gridCol w="1625600">
                      <a:extLst>
                        <a:ext uri="{9D8B030D-6E8A-4147-A177-3AD203B41FA5}">
                          <a16:colId xmlns:a16="http://schemas.microsoft.com/office/drawing/2014/main" val="3534331178"/>
                        </a:ext>
                      </a:extLst>
                    </a:gridCol>
                    <a:gridCol w="1625600">
                      <a:extLst>
                        <a:ext uri="{9D8B030D-6E8A-4147-A177-3AD203B41FA5}">
                          <a16:colId xmlns:a16="http://schemas.microsoft.com/office/drawing/2014/main" val="3257260209"/>
                        </a:ext>
                      </a:extLst>
                    </a:gridCol>
                    <a:gridCol w="1625600">
                      <a:extLst>
                        <a:ext uri="{9D8B030D-6E8A-4147-A177-3AD203B41FA5}">
                          <a16:colId xmlns:a16="http://schemas.microsoft.com/office/drawing/2014/main" val="1940356114"/>
                        </a:ext>
                      </a:extLst>
                    </a:gridCol>
                    <a:gridCol w="1625600">
                      <a:extLst>
                        <a:ext uri="{9D8B030D-6E8A-4147-A177-3AD203B41FA5}">
                          <a16:colId xmlns:a16="http://schemas.microsoft.com/office/drawing/2014/main" val="4068824873"/>
                        </a:ext>
                      </a:extLst>
                    </a:gridCol>
                  </a:tblGrid>
                  <a:tr h="660527">
                    <a:tc>
                      <a:txBody>
                        <a:bodyPr/>
                        <a:lstStyle/>
                        <a:p>
                          <a:endParaRPr lang="en-US" dirty="0"/>
                        </a:p>
                      </a:txBody>
                      <a:tcPr/>
                    </a:tc>
                    <a:tc>
                      <a:txBody>
                        <a:bodyPr/>
                        <a:lstStyle/>
                        <a:p>
                          <a:endParaRPr lang="en-US"/>
                        </a:p>
                      </a:txBody>
                      <a:tcPr>
                        <a:blipFill>
                          <a:blip r:embed="rId3"/>
                          <a:stretch>
                            <a:fillRect l="-103125" t="-3846" r="-304688" b="-173077"/>
                          </a:stretch>
                        </a:blipFill>
                      </a:tcPr>
                    </a:tc>
                    <a:tc>
                      <a:txBody>
                        <a:bodyPr/>
                        <a:lstStyle/>
                        <a:p>
                          <a:endParaRPr lang="en-US"/>
                        </a:p>
                      </a:txBody>
                      <a:tcPr>
                        <a:blipFill>
                          <a:blip r:embed="rId3"/>
                          <a:stretch>
                            <a:fillRect l="-201550" t="-3846" r="-202326" b="-173077"/>
                          </a:stretch>
                        </a:blipFill>
                      </a:tcPr>
                    </a:tc>
                    <a:tc>
                      <a:txBody>
                        <a:bodyPr/>
                        <a:lstStyle/>
                        <a:p>
                          <a:endParaRPr lang="en-US"/>
                        </a:p>
                      </a:txBody>
                      <a:tcPr>
                        <a:blipFill>
                          <a:blip r:embed="rId3"/>
                          <a:stretch>
                            <a:fillRect l="-303906" t="-3846" r="-103906" b="-173077"/>
                          </a:stretch>
                        </a:blipFill>
                      </a:tcPr>
                    </a:tc>
                    <a:tc>
                      <a:txBody>
                        <a:bodyPr/>
                        <a:lstStyle/>
                        <a:p>
                          <a:endParaRPr lang="en-US"/>
                        </a:p>
                      </a:txBody>
                      <a:tcPr>
                        <a:blipFill>
                          <a:blip r:embed="rId3"/>
                          <a:stretch>
                            <a:fillRect l="-403906" t="-3846" r="-3906" b="-173077"/>
                          </a:stretch>
                        </a:blipFill>
                      </a:tcPr>
                    </a:tc>
                    <a:extLst>
                      <a:ext uri="{0D108BD9-81ED-4DB2-BD59-A6C34878D82A}">
                        <a16:rowId xmlns:a16="http://schemas.microsoft.com/office/drawing/2014/main" val="3124064189"/>
                      </a:ext>
                    </a:extLst>
                  </a:tr>
                  <a:tr h="660527">
                    <a:tc>
                      <a:txBody>
                        <a:bodyPr/>
                        <a:lstStyle/>
                        <a:p>
                          <a:r>
                            <a:rPr lang="en-US" dirty="0"/>
                            <a:t>Image 1</a:t>
                          </a:r>
                        </a:p>
                      </a:txBody>
                      <a:tcPr/>
                    </a:tc>
                    <a:tc>
                      <a:txBody>
                        <a:bodyPr/>
                        <a:lstStyle/>
                        <a:p>
                          <a:pPr algn="ctr"/>
                          <a:r>
                            <a:rPr lang="en-US" dirty="0"/>
                            <a:t>1</a:t>
                          </a:r>
                        </a:p>
                      </a:txBody>
                      <a:tcPr/>
                    </a:tc>
                    <a:tc>
                      <a:txBody>
                        <a:bodyPr/>
                        <a:lstStyle/>
                        <a:p>
                          <a:pPr algn="ctr"/>
                          <a:r>
                            <a:rPr lang="en-US" dirty="0"/>
                            <a:t>1</a:t>
                          </a:r>
                        </a:p>
                      </a:txBody>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b="1" dirty="0"/>
                            <a:t>0</a:t>
                          </a:r>
                        </a:p>
                        <a:p>
                          <a:endParaRPr lang="en-US" dirty="0"/>
                        </a:p>
                      </a:txBody>
                      <a:tcPr/>
                    </a:tc>
                    <a:tc>
                      <a:txBody>
                        <a:bodyPr/>
                        <a:lstStyle/>
                        <a:p>
                          <a:pPr algn="ctr"/>
                          <a:r>
                            <a:rPr lang="en-US" dirty="0"/>
                            <a:t>1</a:t>
                          </a:r>
                        </a:p>
                      </a:txBody>
                      <a:tcPr/>
                    </a:tc>
                    <a:extLst>
                      <a:ext uri="{0D108BD9-81ED-4DB2-BD59-A6C34878D82A}">
                        <a16:rowId xmlns:a16="http://schemas.microsoft.com/office/drawing/2014/main" val="3395370511"/>
                      </a:ext>
                    </a:extLst>
                  </a:tr>
                  <a:tr h="375984">
                    <a:tc>
                      <a:txBody>
                        <a:bodyPr/>
                        <a:lstStyle/>
                        <a:p>
                          <a:r>
                            <a:rPr lang="en-US" dirty="0"/>
                            <a:t>Image 2</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1</a:t>
                          </a:r>
                        </a:p>
                      </a:txBody>
                      <a:tcPr/>
                    </a:tc>
                    <a:tc>
                      <a:txBody>
                        <a:bodyPr/>
                        <a:lstStyle/>
                        <a:p>
                          <a:pPr algn="ctr"/>
                          <a:r>
                            <a:rPr lang="en-US" dirty="0"/>
                            <a:t>0</a:t>
                          </a:r>
                        </a:p>
                      </a:txBody>
                      <a:tcPr/>
                    </a:tc>
                    <a:extLst>
                      <a:ext uri="{0D108BD9-81ED-4DB2-BD59-A6C34878D82A}">
                        <a16:rowId xmlns:a16="http://schemas.microsoft.com/office/drawing/2014/main" val="2838850665"/>
                      </a:ext>
                    </a:extLst>
                  </a:tr>
                </a:tbl>
              </a:graphicData>
            </a:graphic>
          </p:graphicFrame>
        </mc:Fallback>
      </mc:AlternateContent>
    </p:spTree>
    <p:extLst>
      <p:ext uri="{BB962C8B-B14F-4D97-AF65-F5344CB8AC3E}">
        <p14:creationId xmlns:p14="http://schemas.microsoft.com/office/powerpoint/2010/main" val="515137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F77E3-B679-A08A-603A-3325208BEDAB}"/>
              </a:ext>
            </a:extLst>
          </p:cNvPr>
          <p:cNvSpPr>
            <a:spLocks noGrp="1"/>
          </p:cNvSpPr>
          <p:nvPr>
            <p:ph type="title"/>
          </p:nvPr>
        </p:nvSpPr>
        <p:spPr/>
        <p:txBody>
          <a:bodyPr/>
          <a:lstStyle/>
          <a:p>
            <a:r>
              <a:rPr lang="en-US" dirty="0"/>
              <a:t>Jaccard Similarity using NumPy</a:t>
            </a:r>
          </a:p>
        </p:txBody>
      </p:sp>
      <p:pic>
        <p:nvPicPr>
          <p:cNvPr id="5" name="Picture 4" descr="A computer screen with text&#10;&#10;AI-generated content may be incorrect.">
            <a:extLst>
              <a:ext uri="{FF2B5EF4-FFF2-40B4-BE49-F238E27FC236}">
                <a16:creationId xmlns:a16="http://schemas.microsoft.com/office/drawing/2014/main" id="{2E9F773A-1E88-31B7-6656-4940CB6D6009}"/>
              </a:ext>
            </a:extLst>
          </p:cNvPr>
          <p:cNvPicPr>
            <a:picLocks noChangeAspect="1"/>
          </p:cNvPicPr>
          <p:nvPr/>
        </p:nvPicPr>
        <p:blipFill>
          <a:blip r:embed="rId2"/>
          <a:stretch>
            <a:fillRect/>
          </a:stretch>
        </p:blipFill>
        <p:spPr>
          <a:xfrm>
            <a:off x="1808783" y="2350976"/>
            <a:ext cx="8574433" cy="2156047"/>
          </a:xfrm>
          <a:prstGeom prst="rect">
            <a:avLst/>
          </a:prstGeom>
        </p:spPr>
      </p:pic>
    </p:spTree>
    <p:extLst>
      <p:ext uri="{BB962C8B-B14F-4D97-AF65-F5344CB8AC3E}">
        <p14:creationId xmlns:p14="http://schemas.microsoft.com/office/powerpoint/2010/main" val="358898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9FB7C-7691-8C80-0B85-973C3C4E8475}"/>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6F09B99-EF08-46F5-AFA4-DF3CEBAF56FE}"/>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p:txBody>
          </p:sp>
        </mc:Choice>
        <mc:Fallback xmlns="">
          <p:sp>
            <p:nvSpPr>
              <p:cNvPr id="3" name="Text Placeholder 2">
                <a:extLst>
                  <a:ext uri="{FF2B5EF4-FFF2-40B4-BE49-F238E27FC236}">
                    <a16:creationId xmlns:a16="http://schemas.microsoft.com/office/drawing/2014/main" id="{56F09B99-EF08-46F5-AFA4-DF3CEBAF56F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29301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F0099-4533-57B3-1ADC-58752C11D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B76B89-7F39-D2A3-3C28-A526D8CC7198}"/>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C7D322C0-CC47-7C9A-42BD-BF76148B14D6}"/>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b="0" dirty="0"/>
              </a:p>
            </p:txBody>
          </p:sp>
        </mc:Choice>
        <mc:Fallback xmlns="">
          <p:sp>
            <p:nvSpPr>
              <p:cNvPr id="3" name="Text Placeholder 2">
                <a:extLst>
                  <a:ext uri="{FF2B5EF4-FFF2-40B4-BE49-F238E27FC236}">
                    <a16:creationId xmlns:a16="http://schemas.microsoft.com/office/drawing/2014/main" id="{C7D322C0-CC47-7C9A-42BD-BF76148B14D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458805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35E40-9F2A-139A-C685-F14A96B095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DA349A-6D4B-737A-7BC9-3B4108D45943}"/>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B6A6F368-A0FB-A8DF-5A03-FF97E2D9A426}"/>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p:txBody>
          </p:sp>
        </mc:Choice>
        <mc:Fallback xmlns="">
          <p:sp>
            <p:nvSpPr>
              <p:cNvPr id="3" name="Text Placeholder 2">
                <a:extLst>
                  <a:ext uri="{FF2B5EF4-FFF2-40B4-BE49-F238E27FC236}">
                    <a16:creationId xmlns:a16="http://schemas.microsoft.com/office/drawing/2014/main" id="{B6A6F368-A0FB-A8DF-5A03-FF97E2D9A426}"/>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087614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FBFB9-3720-4A4A-895A-4EE354C00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C32AA8-597A-3397-4666-D3D9487E0271}"/>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B1A5E6B-E990-378C-375B-5716738F46B0}"/>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p:txBody>
          </p:sp>
        </mc:Choice>
        <mc:Fallback xmlns="">
          <p:sp>
            <p:nvSpPr>
              <p:cNvPr id="3" name="Text Placeholder 2">
                <a:extLst>
                  <a:ext uri="{FF2B5EF4-FFF2-40B4-BE49-F238E27FC236}">
                    <a16:creationId xmlns:a16="http://schemas.microsoft.com/office/drawing/2014/main" id="{7B1A5E6B-E990-378C-375B-5716738F46B0}"/>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159781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CBD5C-9315-AF29-989E-AA70EF01BA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95FA3-8A96-334F-6457-D190688C5029}"/>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40BD61E-36DC-52C9-8410-2106F16A24AE}"/>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p:txBody>
          </p:sp>
        </mc:Choice>
        <mc:Fallback xmlns="">
          <p:sp>
            <p:nvSpPr>
              <p:cNvPr id="3" name="Text Placeholder 2">
                <a:extLst>
                  <a:ext uri="{FF2B5EF4-FFF2-40B4-BE49-F238E27FC236}">
                    <a16:creationId xmlns:a16="http://schemas.microsoft.com/office/drawing/2014/main" id="{140BD61E-36DC-52C9-8410-2106F16A24A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204719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6C54D8-741A-AC27-C94A-6FFC45B94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C25CC3-AAAC-3F20-814C-7A27931B12F7}"/>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63084FD-DE32-DD78-3433-ADB834FDD9AF}"/>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a:p>
                <a:pPr lvl="1"/>
                <a:r>
                  <a:rPr lang="en-US" dirty="0"/>
                  <a:t>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m:rPr>
                        <m:nor/>
                      </m:rPr>
                      <a:rPr lang="en-US" b="0" i="0" smtClean="0">
                        <a:latin typeface="Cambria Math" panose="02040503050406030204" pitchFamily="18" charset="0"/>
                      </a:rPr>
                      <m:t> </m:t>
                    </m:r>
                    <m:r>
                      <m:rPr>
                        <m:nor/>
                      </m:rPr>
                      <a:rPr lang="en-US" b="0" i="0" smtClean="0">
                        <a:latin typeface="Cambria Math" panose="02040503050406030204" pitchFamily="18" charset="0"/>
                      </a:rPr>
                      <m:t>or</m:t>
                    </m:r>
                    <m:r>
                      <m:rPr>
                        <m:nor/>
                      </m:rPr>
                      <a:rPr lang="en-US" b="0" i="0"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m:t>
                        </m:r>
                      </m:sup>
                    </m:sSup>
                  </m:oMath>
                </a14:m>
                <a:endParaRPr lang="en-US" b="0" dirty="0"/>
              </a:p>
              <a:p>
                <a:pPr lvl="1"/>
                <a:endParaRPr lang="en-US" dirty="0"/>
              </a:p>
              <a:p>
                <a:pPr lvl="1"/>
                <a:endParaRPr lang="en-US" b="0" dirty="0"/>
              </a:p>
              <a:p>
                <a:pPr lvl="1"/>
                <a:endParaRPr lang="en-US" b="0" dirty="0"/>
              </a:p>
              <a:p>
                <a:pPr lvl="1"/>
                <a:endParaRPr lang="en-US" dirty="0"/>
              </a:p>
            </p:txBody>
          </p:sp>
        </mc:Choice>
        <mc:Fallback xmlns="">
          <p:sp>
            <p:nvSpPr>
              <p:cNvPr id="3" name="Text Placeholder 2">
                <a:extLst>
                  <a:ext uri="{FF2B5EF4-FFF2-40B4-BE49-F238E27FC236}">
                    <a16:creationId xmlns:a16="http://schemas.microsoft.com/office/drawing/2014/main" id="{F63084FD-DE32-DD78-3433-ADB834FDD9AF}"/>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4957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4A4A5-2010-78D5-1738-6E5F5ABA5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9ED1E-9BB4-CDCD-515F-22F309530B14}"/>
              </a:ext>
            </a:extLst>
          </p:cNvPr>
          <p:cNvSpPr>
            <a:spLocks noGrp="1"/>
          </p:cNvSpPr>
          <p:nvPr>
            <p:ph type="title"/>
          </p:nvPr>
        </p:nvSpPr>
        <p:spPr/>
        <p:txBody>
          <a:bodyPr/>
          <a:lstStyle/>
          <a:p>
            <a:r>
              <a:rPr lang="en-US" dirty="0"/>
              <a:t>Cosine Similarity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937391B7-71F1-3AC7-6F27-37713AD93E19}"/>
                  </a:ext>
                </a:extLst>
              </p:cNvPr>
              <p:cNvSpPr>
                <a:spLocks noGrp="1"/>
              </p:cNvSpPr>
              <p:nvPr>
                <p:ph type="body" idx="1"/>
              </p:nvPr>
            </p:nvSpPr>
            <p:spPr/>
            <p:txBody>
              <a:bodyPr/>
              <a:lstStyle/>
              <a:p>
                <a:r>
                  <a:rPr lang="en-US" b="0" dirty="0">
                    <a:latin typeface="Cambria Math" panose="02040503050406030204" pitchFamily="18" charset="0"/>
                  </a:rPr>
                  <a:t>Similarity function takes two objects and returns a large value i</a:t>
                </a:r>
                <a:r>
                  <a:rPr lang="en-US" dirty="0">
                    <a:latin typeface="Cambria Math" panose="02040503050406030204" pitchFamily="18" charset="0"/>
                  </a:rPr>
                  <a:t>f the objects are similar</a:t>
                </a:r>
                <a:endParaRPr lang="en-US" b="0" dirty="0">
                  <a:latin typeface="Cambria Math" panose="02040503050406030204" pitchFamily="18" charset="0"/>
                </a:endParaRPr>
              </a:p>
              <a:p>
                <a:pPr lvl="1"/>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 = </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r>
                  <a:rPr lang="en-US" dirty="0"/>
                  <a:t> where </a:t>
                </a:r>
                <a14:m>
                  <m:oMath xmlns:m="http://schemas.openxmlformats.org/officeDocument/2006/math">
                    <m:r>
                      <a:rPr lang="en-US" b="0" i="1" smtClean="0">
                        <a:latin typeface="Cambria Math" panose="02040503050406030204" pitchFamily="18" charset="0"/>
                      </a:rPr>
                      <m:t>𝜃</m:t>
                    </m:r>
                  </m:oMath>
                </a14:m>
                <a:r>
                  <a:rPr lang="en-US" dirty="0"/>
                  <a:t> is the angle between x and y</a:t>
                </a:r>
              </a:p>
              <a:p>
                <a:pPr lvl="1"/>
                <a:r>
                  <a:rPr lang="en-US" dirty="0"/>
                  <a:t>If we have two proportional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0</m:t>
                        </m:r>
                      </m:e>
                    </m:d>
                    <m:r>
                      <a:rPr lang="en-US" b="0" i="1" smtClean="0">
                        <a:latin typeface="Cambria Math" panose="02040503050406030204" pitchFamily="18" charset="0"/>
                      </a:rPr>
                      <m:t>=1</m:t>
                    </m:r>
                  </m:oMath>
                </a14:m>
                <a:endParaRPr lang="en-US" dirty="0"/>
              </a:p>
              <a:p>
                <a:pPr lvl="1"/>
                <a:r>
                  <a:rPr lang="en-US" b="0" dirty="0"/>
                  <a:t>If we have two orthogonal vectors: </a:t>
                </a:r>
                <a14:m>
                  <m:oMath xmlns:m="http://schemas.openxmlformats.org/officeDocument/2006/math">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𝜋</m:t>
                            </m:r>
                          </m:num>
                          <m:den>
                            <m:r>
                              <a:rPr lang="en-US" b="0" i="1" smtClean="0">
                                <a:latin typeface="Cambria Math" panose="02040503050406030204" pitchFamily="18" charset="0"/>
                              </a:rPr>
                              <m:t>2</m:t>
                            </m:r>
                          </m:den>
                        </m:f>
                      </m:e>
                    </m:d>
                    <m:r>
                      <a:rPr lang="en-US" b="0" i="1" smtClean="0">
                        <a:latin typeface="Cambria Math" panose="02040503050406030204" pitchFamily="18" charset="0"/>
                      </a:rPr>
                      <m:t>=0</m:t>
                    </m:r>
                  </m:oMath>
                </a14:m>
                <a:endParaRPr lang="en-US" b="0" dirty="0"/>
              </a:p>
              <a:p>
                <a:pPr lvl="1"/>
                <a:r>
                  <a:rPr lang="en-US" b="0" dirty="0"/>
                  <a:t>If we have two opposite vectors: </a:t>
                </a:r>
                <a14:m>
                  <m:oMath xmlns:m="http://schemas.openxmlformats.org/officeDocument/2006/math">
                    <m:r>
                      <m:rPr>
                        <m:sty m:val="p"/>
                      </m:rPr>
                      <a:rPr lang="en-US" b="0" i="1" smtClean="0">
                        <a:latin typeface="Cambria Math" panose="02040503050406030204" pitchFamily="18" charset="0"/>
                      </a:rPr>
                      <m:t>s</m:t>
                    </m:r>
                    <m:r>
                      <a:rPr lang="en-US" b="0" i="1" smtClean="0">
                        <a:latin typeface="Cambria Math" panose="02040503050406030204" pitchFamily="18" charset="0"/>
                      </a:rPr>
                      <m:t>(</m:t>
                    </m:r>
                    <m:r>
                      <m:rPr>
                        <m:sty m:val="p"/>
                      </m:rPr>
                      <a:rPr lang="en-US" b="0" i="1" smtClean="0">
                        <a:latin typeface="Cambria Math" panose="02040503050406030204" pitchFamily="18" charset="0"/>
                      </a:rPr>
                      <m:t>x</m:t>
                    </m:r>
                    <m:r>
                      <a:rPr lang="en-US" b="0" i="1" smtClean="0">
                        <a:latin typeface="Cambria Math" panose="02040503050406030204" pitchFamily="18" charset="0"/>
                      </a:rPr>
                      <m:t>,</m:t>
                    </m:r>
                    <m:r>
                      <m:rPr>
                        <m:sty m:val="p"/>
                      </m:rPr>
                      <a:rPr lang="en-US" b="0" i="1" smtClean="0">
                        <a:latin typeface="Cambria Math" panose="02040503050406030204" pitchFamily="18" charset="0"/>
                      </a:rPr>
                      <m:t>y</m:t>
                    </m:r>
                    <m:r>
                      <a:rPr lang="en-US" b="0" i="1" smtClean="0">
                        <a:latin typeface="Cambria Math" panose="02040503050406030204" pitchFamily="18" charset="0"/>
                      </a:rPr>
                      <m:t>) = </m:t>
                    </m:r>
                    <m:r>
                      <m:rPr>
                        <m:sty m:val="p"/>
                      </m:rPr>
                      <a:rPr lang="en-US" b="0" i="1" smtClean="0">
                        <a:latin typeface="Cambria Math" panose="02040503050406030204" pitchFamily="18" charset="0"/>
                      </a:rPr>
                      <m:t>cos</m:t>
                    </m:r>
                    <m:r>
                      <a:rPr lang="en-US" b="0" i="1" smtClean="0">
                        <a:latin typeface="Cambria Math" panose="02040503050406030204" pitchFamily="18" charset="0"/>
                      </a:rPr>
                      <m:t>(</m:t>
                    </m:r>
                    <m:r>
                      <m:rPr>
                        <m:sty m:val="p"/>
                      </m:rPr>
                      <a:rPr lang="en-US" b="0" i="1" smtClean="0">
                        <a:latin typeface="Cambria Math" panose="02040503050406030204" pitchFamily="18" charset="0"/>
                      </a:rPr>
                      <m:t>π</m:t>
                    </m:r>
                    <m:r>
                      <a:rPr lang="en-US" b="0" i="1" smtClean="0">
                        <a:latin typeface="Cambria Math" panose="02040503050406030204" pitchFamily="18" charset="0"/>
                      </a:rPr>
                      <m:t>) = −1</m:t>
                    </m:r>
                  </m:oMath>
                </a14:m>
                <a:endParaRPr lang="en-US" dirty="0"/>
              </a:p>
              <a:p>
                <a:r>
                  <a:rPr lang="en-US" dirty="0"/>
                  <a:t>To get a corresponding dissimilarity function, we can try the following</a:t>
                </a:r>
              </a:p>
              <a:p>
                <a:pPr lvl="1"/>
                <a:r>
                  <a:rPr lang="en-US" dirty="0"/>
                  <a:t>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den>
                    </m:f>
                    <m:r>
                      <m:rPr>
                        <m:nor/>
                      </m:rPr>
                      <a:rPr lang="en-US" b="0" i="0" smtClean="0">
                        <a:latin typeface="Cambria Math" panose="02040503050406030204" pitchFamily="18" charset="0"/>
                      </a:rPr>
                      <m:t> </m:t>
                    </m:r>
                    <m:r>
                      <m:rPr>
                        <m:nor/>
                      </m:rPr>
                      <a:rPr lang="en-US" b="0" i="0" smtClean="0">
                        <a:latin typeface="Cambria Math" panose="02040503050406030204" pitchFamily="18" charset="0"/>
                      </a:rPr>
                      <m:t>or</m:t>
                    </m:r>
                    <m:r>
                      <m:rPr>
                        <m:nor/>
                      </m:rPr>
                      <a:rPr lang="en-US" b="0" i="0" smtClean="0">
                        <a:latin typeface="Cambria Math" panose="02040503050406030204" pitchFamily="18" charset="0"/>
                      </a:rPr>
                      <m:t> </m:t>
                    </m:r>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𝑠</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ℝ</m:t>
                        </m:r>
                      </m:e>
                      <m:sup>
                        <m:r>
                          <a:rPr lang="en-US" b="0" i="1" smtClean="0">
                            <a:latin typeface="Cambria Math" panose="02040503050406030204" pitchFamily="18" charset="0"/>
                          </a:rPr>
                          <m:t>+</m:t>
                        </m:r>
                      </m:sup>
                    </m:sSup>
                  </m:oMath>
                </a14:m>
                <a:endParaRPr lang="en-US" b="0" dirty="0"/>
              </a:p>
              <a:p>
                <a:pPr lvl="1"/>
                <a:r>
                  <a:rPr lang="en-US" dirty="0"/>
                  <a:t>To get cosine dissimilarity, we can just do </a:t>
                </a:r>
                <a14:m>
                  <m:oMath xmlns:m="http://schemas.openxmlformats.org/officeDocument/2006/math">
                    <m:r>
                      <a:rPr lang="en-US" b="0" i="1" smtClean="0">
                        <a:latin typeface="Cambria Math" panose="02040503050406030204" pitchFamily="18" charset="0"/>
                      </a:rPr>
                      <m:t>𝑑</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e>
                    </m:d>
                    <m:r>
                      <a:rPr lang="en-US" b="0" i="1" smtClean="0">
                        <a:latin typeface="Cambria Math" panose="02040503050406030204" pitchFamily="18" charset="0"/>
                      </a:rPr>
                      <m:t>=1−</m:t>
                    </m:r>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oMath>
                </a14:m>
                <a:endParaRPr lang="en-US" b="0" dirty="0"/>
              </a:p>
              <a:p>
                <a:pPr lvl="1"/>
                <a:endParaRPr lang="en-US" b="0" dirty="0"/>
              </a:p>
              <a:p>
                <a:pPr lvl="1"/>
                <a:endParaRPr lang="en-US" dirty="0"/>
              </a:p>
              <a:p>
                <a:pPr lvl="1"/>
                <a:endParaRPr lang="en-US" b="0" dirty="0"/>
              </a:p>
              <a:p>
                <a:pPr lvl="1"/>
                <a:endParaRPr lang="en-US" b="0" dirty="0"/>
              </a:p>
              <a:p>
                <a:pPr lvl="1"/>
                <a:endParaRPr lang="en-US" dirty="0"/>
              </a:p>
            </p:txBody>
          </p:sp>
        </mc:Choice>
        <mc:Fallback xmlns="">
          <p:sp>
            <p:nvSpPr>
              <p:cNvPr id="3" name="Text Placeholder 2">
                <a:extLst>
                  <a:ext uri="{FF2B5EF4-FFF2-40B4-BE49-F238E27FC236}">
                    <a16:creationId xmlns:a16="http://schemas.microsoft.com/office/drawing/2014/main" id="{937391B7-71F1-3AC7-6F27-37713AD93E19}"/>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874522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37004F-4DCB-DC9F-081A-8A9F885B74A7}"/>
              </a:ext>
            </a:extLst>
          </p:cNvPr>
          <p:cNvSpPr/>
          <p:nvPr>
            <p:custDataLst>
              <p:tags r:id="rId2"/>
            </p:custDataLst>
          </p:nvPr>
        </p:nvSpPr>
        <p:spPr>
          <a:xfrm>
            <a:off x="444693" y="1742703"/>
            <a:ext cx="2371696" cy="2371696"/>
          </a:xfrm>
          <a:prstGeom prst="rect">
            <a:avLst/>
          </a:prstGeom>
          <a:blipFill>
            <a:blip r:embed="rId5">
              <a:extLst>
                <a:ext uri="{96DAC541-7B7A-43D3-8B79-37D633B846F1}">
                  <asvg:svgBlip xmlns:asvg="http://schemas.microsoft.com/office/drawing/2016/SVG/main" r:embed="rId6"/>
                </a:ext>
              </a:extLst>
            </a:blip>
            <a:stretch>
              <a:fillRect/>
            </a:stretch>
          </a:blip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67204F1-54BB-7BF6-E682-6CA047313784}"/>
              </a:ext>
            </a:extLst>
          </p:cNvPr>
          <p:cNvSpPr/>
          <p:nvPr>
            <p:custDataLst>
              <p:tags r:id="rId3"/>
            </p:custDataLst>
          </p:nvPr>
        </p:nvSpPr>
        <p:spPr>
          <a:xfrm>
            <a:off x="3112851" y="1000897"/>
            <a:ext cx="8486226" cy="3855308"/>
          </a:xfrm>
          <a:prstGeom prst="rect">
            <a:avLst/>
          </a:prstGeom>
          <a:noFill/>
          <a:ln w="25400" cap="flat" cmpd="sng" algn="ctr">
            <a:solidFill>
              <a:srgbClr val="FFFFFF"/>
            </a:solidFill>
            <a:prstDash val="soli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4000" b="1">
                <a:solidFill>
                  <a:srgbClr val="000000"/>
                </a:solidFill>
              </a:rPr>
              <a:t>What is the cosine similarity between A and B?</a:t>
            </a:r>
          </a:p>
        </p:txBody>
      </p:sp>
      <p:sp>
        <p:nvSpPr>
          <p:cNvPr id="4" name="Rectangle 3">
            <a:extLst>
              <a:ext uri="{FF2B5EF4-FFF2-40B4-BE49-F238E27FC236}">
                <a16:creationId xmlns:a16="http://schemas.microsoft.com/office/drawing/2014/main" id="{6404DA2D-6F3D-DB03-04E7-3A5C40E4FD03}"/>
              </a:ext>
            </a:extLst>
          </p:cNvPr>
          <p:cNvSpPr/>
          <p:nvPr/>
        </p:nvSpPr>
        <p:spPr>
          <a:xfrm>
            <a:off x="0" y="5820032"/>
            <a:ext cx="12192001" cy="1037968"/>
          </a:xfrm>
          <a:prstGeom prst="rect">
            <a:avLst/>
          </a:prstGeom>
          <a:solidFill>
            <a:srgbClr val="1980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41155" tIns="259492" rIns="1852888" bIns="203886" rtlCol="0" anchor="ctr">
            <a:normAutofit fontScale="85000" lnSpcReduction="10000"/>
          </a:bodyPr>
          <a:lstStyle/>
          <a:p>
            <a:r>
              <a:rPr lang="en-US" sz="2600">
                <a:solidFill>
                  <a:srgbClr val="FFFFFF"/>
                </a:solidFill>
              </a:rPr>
              <a:t>The </a:t>
            </a:r>
            <a:r>
              <a:rPr lang="en-US" sz="2600">
                <a:solidFill>
                  <a:srgbClr val="FFFFFF"/>
                </a:solidFill>
                <a:hlinkClick r:id="rId7">
                  <a:extLst>
                    <a:ext uri="{A12FA001-AC4F-418D-AE19-62706E023703}">
                      <ahyp:hlinkClr xmlns:ahyp="http://schemas.microsoft.com/office/drawing/2018/hyperlinkcolor" val="tx"/>
                    </a:ext>
                  </a:extLst>
                </a:hlinkClick>
              </a:rPr>
              <a:t>Slido app</a:t>
            </a:r>
            <a:r>
              <a:rPr lang="en-US" sz="2600">
                <a:solidFill>
                  <a:srgbClr val="FFFFFF"/>
                </a:solidFill>
              </a:rPr>
              <a:t> must be installed on every computer you’re presenting from</a:t>
            </a:r>
          </a:p>
        </p:txBody>
      </p:sp>
      <p:pic>
        <p:nvPicPr>
          <p:cNvPr id="6" name="Graphic 5">
            <a:extLst>
              <a:ext uri="{FF2B5EF4-FFF2-40B4-BE49-F238E27FC236}">
                <a16:creationId xmlns:a16="http://schemas.microsoft.com/office/drawing/2014/main" id="{C6F04798-79F2-A988-8D2F-9F7B56DC2E9A}"/>
              </a:ext>
            </a:extLst>
          </p:cNvPr>
          <p:cNvPicPr>
            <a:picLocks/>
          </p:cNvPicPr>
          <p:nvPr/>
        </p:nvPicPr>
        <p:blipFill>
          <a:blip r:embed="rId8">
            <a:extLst>
              <a:ext uri="{96DAC541-7B7A-43D3-8B79-37D633B846F1}">
                <asvg:svgBlip xmlns:asvg="http://schemas.microsoft.com/office/drawing/2016/SVG/main" r:embed="rId9"/>
              </a:ext>
            </a:extLst>
          </a:blip>
          <a:stretch>
            <a:fillRect/>
          </a:stretch>
        </p:blipFill>
        <p:spPr>
          <a:xfrm>
            <a:off x="296462" y="6190785"/>
            <a:ext cx="296462" cy="296462"/>
          </a:xfrm>
          <a:prstGeom prst="rect">
            <a:avLst/>
          </a:prstGeom>
        </p:spPr>
      </p:pic>
      <p:sp>
        <p:nvSpPr>
          <p:cNvPr id="7" name="Trapezoid 6">
            <a:extLst>
              <a:ext uri="{FF2B5EF4-FFF2-40B4-BE49-F238E27FC236}">
                <a16:creationId xmlns:a16="http://schemas.microsoft.com/office/drawing/2014/main" id="{E74FF9EB-0910-D5EF-2C11-247A2CEF7CBE}"/>
              </a:ext>
            </a:extLst>
          </p:cNvPr>
          <p:cNvSpPr/>
          <p:nvPr/>
        </p:nvSpPr>
        <p:spPr>
          <a:xfrm rot="2700000">
            <a:off x="9620371" y="514924"/>
            <a:ext cx="3335198" cy="778213"/>
          </a:xfrm>
          <a:prstGeom prst="trapezoid">
            <a:avLst>
              <a:gd name="adj" fmla="val 100000"/>
            </a:avLst>
          </a:prstGeom>
          <a:solidFill>
            <a:srgbClr val="EDFAF2"/>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tIns="0" bIns="0" rtlCol="0" anchor="t">
            <a:normAutofit fontScale="70000" lnSpcReduction="20000"/>
          </a:bodyPr>
          <a:lstStyle/>
          <a:p>
            <a:pPr algn="ctr"/>
            <a:r>
              <a:rPr lang="en-US" sz="2600" b="1">
                <a:solidFill>
                  <a:srgbClr val="198038"/>
                </a:solidFill>
              </a:rPr>
              <a:t>Do not edit
</a:t>
            </a:r>
            <a:r>
              <a:rPr lang="en-US" sz="2200">
                <a:solidFill>
                  <a:srgbClr val="198038"/>
                </a:solidFill>
                <a:hlinkClick r:id="rId10">
                  <a:extLst>
                    <a:ext uri="{A12FA001-AC4F-418D-AE19-62706E023703}">
                      <ahyp:hlinkClr xmlns:ahyp="http://schemas.microsoft.com/office/drawing/2018/hyperlinkcolor" val="tx"/>
                    </a:ext>
                  </a:extLst>
                </a:hlinkClick>
              </a:rPr>
              <a:t>How to change the design</a:t>
            </a:r>
            <a:endParaRPr lang="en-US" sz="2200">
              <a:solidFill>
                <a:srgbClr val="198038"/>
              </a:solidFill>
            </a:endParaRPr>
          </a:p>
        </p:txBody>
      </p:sp>
      <p:pic>
        <p:nvPicPr>
          <p:cNvPr id="9" name="Graphic 8">
            <a:extLst>
              <a:ext uri="{FF2B5EF4-FFF2-40B4-BE49-F238E27FC236}">
                <a16:creationId xmlns:a16="http://schemas.microsoft.com/office/drawing/2014/main" id="{C2E7C598-B284-59B9-9F69-8BA0DA82D8A0}"/>
              </a:ext>
            </a:extLst>
          </p:cNvPr>
          <p:cNvPicPr>
            <a:picLocks/>
          </p:cNvPicPr>
          <p:nvPr/>
        </p:nvPicPr>
        <p:blipFill>
          <a:blip r:embed="rId11">
            <a:extLst>
              <a:ext uri="{96DAC541-7B7A-43D3-8B79-37D633B846F1}">
                <asvg:svgBlip xmlns:asvg="http://schemas.microsoft.com/office/drawing/2016/SVG/main" r:embed="rId12"/>
              </a:ext>
            </a:extLst>
          </a:blip>
          <a:stretch>
            <a:fillRect/>
          </a:stretch>
        </p:blipFill>
        <p:spPr>
          <a:xfrm>
            <a:off x="10746748" y="6153727"/>
            <a:ext cx="1111733" cy="370578"/>
          </a:xfrm>
          <a:prstGeom prst="rect">
            <a:avLst/>
          </a:prstGeom>
        </p:spPr>
      </p:pic>
    </p:spTree>
    <p:custDataLst>
      <p:tags r:id="rId1"/>
    </p:custDataLst>
    <p:extLst>
      <p:ext uri="{BB962C8B-B14F-4D97-AF65-F5344CB8AC3E}">
        <p14:creationId xmlns:p14="http://schemas.microsoft.com/office/powerpoint/2010/main" val="3949043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 tmFilter="0, 0; .2, .5; .8, .5; 1, 0"/>
                                        <p:tgtEl>
                                          <p:spTgt spid="3"/>
                                        </p:tgtEl>
                                      </p:cBhvr>
                                    </p:animEffect>
                                    <p:animScale>
                                      <p:cBhvr>
                                        <p:cTn id="7" dur="25"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DB49E-66AA-7B1D-A052-316953F0583B}"/>
              </a:ext>
            </a:extLst>
          </p:cNvPr>
          <p:cNvSpPr>
            <a:spLocks noGrp="1"/>
          </p:cNvSpPr>
          <p:nvPr>
            <p:ph type="title"/>
          </p:nvPr>
        </p:nvSpPr>
        <p:spPr/>
        <p:txBody>
          <a:bodyPr>
            <a:normAutofit fontScale="90000"/>
          </a:bodyPr>
          <a:lstStyle/>
          <a:p>
            <a:r>
              <a:rPr lang="en-US" dirty="0"/>
              <a:t>What is the cosine and Euclidean distance between the following vectors?</a:t>
            </a:r>
          </a:p>
        </p:txBody>
      </p:sp>
      <p:cxnSp>
        <p:nvCxnSpPr>
          <p:cNvPr id="5" name="Straight Arrow Connector 4">
            <a:extLst>
              <a:ext uri="{FF2B5EF4-FFF2-40B4-BE49-F238E27FC236}">
                <a16:creationId xmlns:a16="http://schemas.microsoft.com/office/drawing/2014/main" id="{4BE98F5A-EB48-9AF0-D666-4B050102BC5A}"/>
              </a:ext>
            </a:extLst>
          </p:cNvPr>
          <p:cNvCxnSpPr/>
          <p:nvPr/>
        </p:nvCxnSpPr>
        <p:spPr>
          <a:xfrm flipV="1">
            <a:off x="1158949" y="1701209"/>
            <a:ext cx="0" cy="2073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368A1C3-B54A-29E7-E54B-84579440F747}"/>
              </a:ext>
            </a:extLst>
          </p:cNvPr>
          <p:cNvCxnSpPr/>
          <p:nvPr/>
        </p:nvCxnSpPr>
        <p:spPr>
          <a:xfrm>
            <a:off x="1180214" y="3774558"/>
            <a:ext cx="20839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8E793D62-9F8E-641F-9C24-054388684D17}"/>
              </a:ext>
            </a:extLst>
          </p:cNvPr>
          <p:cNvCxnSpPr>
            <a:cxnSpLocks/>
          </p:cNvCxnSpPr>
          <p:nvPr/>
        </p:nvCxnSpPr>
        <p:spPr>
          <a:xfrm flipV="1">
            <a:off x="1158949" y="2115879"/>
            <a:ext cx="1679944" cy="16586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8E579B7D-01BE-52D8-CC3B-C0F7F12ACA6F}"/>
              </a:ext>
            </a:extLst>
          </p:cNvPr>
          <p:cNvCxnSpPr>
            <a:cxnSpLocks/>
          </p:cNvCxnSpPr>
          <p:nvPr/>
        </p:nvCxnSpPr>
        <p:spPr>
          <a:xfrm>
            <a:off x="1180214" y="3774558"/>
            <a:ext cx="165867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6" name="TextBox 15">
            <a:extLst>
              <a:ext uri="{FF2B5EF4-FFF2-40B4-BE49-F238E27FC236}">
                <a16:creationId xmlns:a16="http://schemas.microsoft.com/office/drawing/2014/main" id="{C16031C3-1B32-E614-162F-23FF5C6801A2}"/>
              </a:ext>
            </a:extLst>
          </p:cNvPr>
          <p:cNvSpPr txBox="1"/>
          <p:nvPr/>
        </p:nvSpPr>
        <p:spPr>
          <a:xfrm>
            <a:off x="2753832" y="1881962"/>
            <a:ext cx="1265274" cy="318977"/>
          </a:xfrm>
          <a:prstGeom prst="rect">
            <a:avLst/>
          </a:prstGeom>
          <a:noFill/>
        </p:spPr>
        <p:txBody>
          <a:bodyPr wrap="square" rtlCol="0">
            <a:spAutoFit/>
          </a:bodyPr>
          <a:lstStyle/>
          <a:p>
            <a:r>
              <a:rPr lang="en-US" dirty="0"/>
              <a:t>A(1,1)</a:t>
            </a:r>
          </a:p>
        </p:txBody>
      </p:sp>
      <p:sp>
        <p:nvSpPr>
          <p:cNvPr id="17" name="TextBox 16">
            <a:extLst>
              <a:ext uri="{FF2B5EF4-FFF2-40B4-BE49-F238E27FC236}">
                <a16:creationId xmlns:a16="http://schemas.microsoft.com/office/drawing/2014/main" id="{A314F4FE-47FE-9A83-DABE-E26BD2A89AB0}"/>
              </a:ext>
            </a:extLst>
          </p:cNvPr>
          <p:cNvSpPr txBox="1"/>
          <p:nvPr/>
        </p:nvSpPr>
        <p:spPr>
          <a:xfrm>
            <a:off x="2631558" y="3466214"/>
            <a:ext cx="1265274" cy="318977"/>
          </a:xfrm>
          <a:prstGeom prst="rect">
            <a:avLst/>
          </a:prstGeom>
          <a:noFill/>
        </p:spPr>
        <p:txBody>
          <a:bodyPr wrap="square" rtlCol="0">
            <a:spAutoFit/>
          </a:bodyPr>
          <a:lstStyle/>
          <a:p>
            <a:r>
              <a:rPr lang="en-US" dirty="0"/>
              <a:t>B(0,1)</a:t>
            </a:r>
          </a:p>
        </p:txBody>
      </p:sp>
      <p:cxnSp>
        <p:nvCxnSpPr>
          <p:cNvPr id="18" name="Straight Arrow Connector 17">
            <a:extLst>
              <a:ext uri="{FF2B5EF4-FFF2-40B4-BE49-F238E27FC236}">
                <a16:creationId xmlns:a16="http://schemas.microsoft.com/office/drawing/2014/main" id="{9BBECC43-4BD7-83E4-A4AD-2ECF1FD77533}"/>
              </a:ext>
            </a:extLst>
          </p:cNvPr>
          <p:cNvCxnSpPr/>
          <p:nvPr/>
        </p:nvCxnSpPr>
        <p:spPr>
          <a:xfrm flipV="1">
            <a:off x="7669619" y="1690576"/>
            <a:ext cx="0" cy="20733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6B95778-F2E0-F1E4-6211-5A3E3D1A5540}"/>
              </a:ext>
            </a:extLst>
          </p:cNvPr>
          <p:cNvCxnSpPr/>
          <p:nvPr/>
        </p:nvCxnSpPr>
        <p:spPr>
          <a:xfrm>
            <a:off x="7690884" y="3763925"/>
            <a:ext cx="208398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F7E4F72D-5A45-86EB-6A9E-81571CAC12DC}"/>
              </a:ext>
            </a:extLst>
          </p:cNvPr>
          <p:cNvCxnSpPr>
            <a:cxnSpLocks/>
          </p:cNvCxnSpPr>
          <p:nvPr/>
        </p:nvCxnSpPr>
        <p:spPr>
          <a:xfrm flipV="1">
            <a:off x="7669619" y="2105246"/>
            <a:ext cx="1679944" cy="165867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2" name="TextBox 21">
            <a:extLst>
              <a:ext uri="{FF2B5EF4-FFF2-40B4-BE49-F238E27FC236}">
                <a16:creationId xmlns:a16="http://schemas.microsoft.com/office/drawing/2014/main" id="{179EF7A3-5EB7-8AFE-6BD7-105DAA333B51}"/>
              </a:ext>
            </a:extLst>
          </p:cNvPr>
          <p:cNvSpPr txBox="1"/>
          <p:nvPr/>
        </p:nvSpPr>
        <p:spPr>
          <a:xfrm>
            <a:off x="9264502" y="1871329"/>
            <a:ext cx="1265274" cy="318977"/>
          </a:xfrm>
          <a:prstGeom prst="rect">
            <a:avLst/>
          </a:prstGeom>
          <a:noFill/>
        </p:spPr>
        <p:txBody>
          <a:bodyPr wrap="square" rtlCol="0">
            <a:spAutoFit/>
          </a:bodyPr>
          <a:lstStyle/>
          <a:p>
            <a:r>
              <a:rPr lang="en-US" dirty="0"/>
              <a:t>A(1,1)</a:t>
            </a:r>
          </a:p>
        </p:txBody>
      </p:sp>
      <p:sp>
        <p:nvSpPr>
          <p:cNvPr id="23" name="TextBox 22">
            <a:extLst>
              <a:ext uri="{FF2B5EF4-FFF2-40B4-BE49-F238E27FC236}">
                <a16:creationId xmlns:a16="http://schemas.microsoft.com/office/drawing/2014/main" id="{DF8EEC02-21CC-26EF-6ABA-286E3DFFEE43}"/>
              </a:ext>
            </a:extLst>
          </p:cNvPr>
          <p:cNvSpPr txBox="1"/>
          <p:nvPr/>
        </p:nvSpPr>
        <p:spPr>
          <a:xfrm>
            <a:off x="7072068" y="3732026"/>
            <a:ext cx="1265274" cy="318977"/>
          </a:xfrm>
          <a:prstGeom prst="rect">
            <a:avLst/>
          </a:prstGeom>
          <a:noFill/>
        </p:spPr>
        <p:txBody>
          <a:bodyPr wrap="square" rtlCol="0">
            <a:spAutoFit/>
          </a:bodyPr>
          <a:lstStyle/>
          <a:p>
            <a:r>
              <a:rPr lang="en-US" dirty="0"/>
              <a:t>B(0,0)</a:t>
            </a:r>
          </a:p>
        </p:txBody>
      </p:sp>
      <p:sp>
        <p:nvSpPr>
          <p:cNvPr id="26" name="Oval 25">
            <a:extLst>
              <a:ext uri="{FF2B5EF4-FFF2-40B4-BE49-F238E27FC236}">
                <a16:creationId xmlns:a16="http://schemas.microsoft.com/office/drawing/2014/main" id="{3B8DBFC4-1F86-D091-C984-22E9678B0AB3}"/>
              </a:ext>
            </a:extLst>
          </p:cNvPr>
          <p:cNvSpPr/>
          <p:nvPr/>
        </p:nvSpPr>
        <p:spPr>
          <a:xfrm>
            <a:off x="7658986" y="3732026"/>
            <a:ext cx="45719" cy="45719"/>
          </a:xfrm>
          <a:prstGeom prst="ellipse">
            <a:avLst/>
          </a:prstGeom>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7" name="Text Placeholder 2">
                <a:extLst>
                  <a:ext uri="{FF2B5EF4-FFF2-40B4-BE49-F238E27FC236}">
                    <a16:creationId xmlns:a16="http://schemas.microsoft.com/office/drawing/2014/main" id="{03634E19-A452-D4AF-5AA4-46447C326497}"/>
                  </a:ext>
                </a:extLst>
              </p:cNvPr>
              <p:cNvSpPr>
                <a:spLocks noGrp="1"/>
              </p:cNvSpPr>
              <p:nvPr>
                <p:ph type="body" idx="1"/>
              </p:nvPr>
            </p:nvSpPr>
            <p:spPr>
              <a:xfrm>
                <a:off x="415600" y="1688433"/>
                <a:ext cx="11360800" cy="4403600"/>
              </a:xfrm>
            </p:spPr>
            <p:txBody>
              <a:bodyPr>
                <a:normAutofit lnSpcReduction="10000"/>
              </a:bodyPr>
              <a:lstStyle/>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marL="152396" indent="0">
                  <a:buNone/>
                </a:pPr>
                <a:r>
                  <a:rPr lang="en-US" dirty="0"/>
                  <a:t>Hint: </a:t>
                </a:r>
                <a14:m>
                  <m:oMath xmlns:m="http://schemas.openxmlformats.org/officeDocument/2006/math">
                    <m:r>
                      <a:rPr lang="en-US" b="0" i="1" smtClean="0">
                        <a:latin typeface="Cambria Math" panose="02040503050406030204" pitchFamily="18" charset="0"/>
                      </a:rPr>
                      <m:t>𝑐𝑜𝑠</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num>
                      <m:den>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𝐴</m:t>
                            </m:r>
                          </m:e>
                        </m:d>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𝐵</m:t>
                            </m:r>
                          </m:e>
                        </m:d>
                      </m:den>
                    </m:f>
                  </m:oMath>
                </a14:m>
                <a:endParaRPr lang="en-US" b="0" dirty="0"/>
              </a:p>
              <a:p>
                <a:pPr marL="152396" indent="0">
                  <a:buNone/>
                </a:pPr>
                <a:endParaRPr lang="en-US" dirty="0"/>
              </a:p>
              <a:p>
                <a:pPr marL="152396" indent="0">
                  <a:buNone/>
                </a:pPr>
                <a:r>
                  <a:rPr lang="en-US" b="0" dirty="0"/>
                  <a:t>Based on the results, what does each distance function prioritize?</a:t>
                </a:r>
              </a:p>
              <a:p>
                <a:r>
                  <a:rPr lang="en-US" dirty="0"/>
                  <a:t>Cosine distance prioritizes differences in direction</a:t>
                </a:r>
              </a:p>
              <a:p>
                <a:r>
                  <a:rPr lang="en-US" b="0" dirty="0"/>
                  <a:t>Euclidean distance prioritizes differences in magnitude</a:t>
                </a:r>
              </a:p>
              <a:p>
                <a:pPr marL="152396" indent="0">
                  <a:buNone/>
                </a:pPr>
                <a:endParaRPr lang="en-US" dirty="0"/>
              </a:p>
            </p:txBody>
          </p:sp>
        </mc:Choice>
        <mc:Fallback xmlns="">
          <p:sp>
            <p:nvSpPr>
              <p:cNvPr id="27" name="Text Placeholder 2">
                <a:extLst>
                  <a:ext uri="{FF2B5EF4-FFF2-40B4-BE49-F238E27FC236}">
                    <a16:creationId xmlns:a16="http://schemas.microsoft.com/office/drawing/2014/main" id="{03634E19-A452-D4AF-5AA4-46447C326497}"/>
                  </a:ext>
                </a:extLst>
              </p:cNvPr>
              <p:cNvSpPr>
                <a:spLocks noGrp="1" noRot="1" noChangeAspect="1" noMove="1" noResize="1" noEditPoints="1" noAdjustHandles="1" noChangeArrowheads="1" noChangeShapeType="1" noTextEdit="1"/>
              </p:cNvSpPr>
              <p:nvPr>
                <p:ph type="body" idx="1"/>
              </p:nvPr>
            </p:nvSpPr>
            <p:spPr>
              <a:xfrm>
                <a:off x="415600" y="1688433"/>
                <a:ext cx="11360800" cy="4403600"/>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11007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7">
                                            <p:txEl>
                                              <p:pRg st="10" end="10"/>
                                            </p:txEl>
                                          </p:spTgt>
                                        </p:tgtEl>
                                        <p:attrNameLst>
                                          <p:attrName>style.visibility</p:attrName>
                                        </p:attrNameLst>
                                      </p:cBhvr>
                                      <p:to>
                                        <p:strVal val="visible"/>
                                      </p:to>
                                    </p:set>
                                    <p:animEffect transition="in" filter="dissolve">
                                      <p:cBhvr>
                                        <p:cTn id="7" dur="500"/>
                                        <p:tgtEl>
                                          <p:spTgt spid="27">
                                            <p:txEl>
                                              <p:pRg st="10" end="1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27">
                                            <p:txEl>
                                              <p:pRg st="11" end="11"/>
                                            </p:txEl>
                                          </p:spTgt>
                                        </p:tgtEl>
                                        <p:attrNameLst>
                                          <p:attrName>style.visibility</p:attrName>
                                        </p:attrNameLst>
                                      </p:cBhvr>
                                      <p:to>
                                        <p:strVal val="visible"/>
                                      </p:to>
                                    </p:set>
                                    <p:animEffect transition="in" filter="dissolve">
                                      <p:cBhvr>
                                        <p:cTn id="10" dur="500"/>
                                        <p:tgtEl>
                                          <p:spTgt spid="27">
                                            <p:txEl>
                                              <p:pRg st="11" end="11"/>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27">
                                            <p:txEl>
                                              <p:pRg st="12" end="12"/>
                                            </p:txEl>
                                          </p:spTgt>
                                        </p:tgtEl>
                                        <p:attrNameLst>
                                          <p:attrName>style.visibility</p:attrName>
                                        </p:attrNameLst>
                                      </p:cBhvr>
                                      <p:to>
                                        <p:strVal val="visible"/>
                                      </p:to>
                                    </p:set>
                                    <p:animEffect transition="in" filter="dissolve">
                                      <p:cBhvr>
                                        <p:cTn id="13" dur="500"/>
                                        <p:tgtEl>
                                          <p:spTgt spid="2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A619-CF1D-5A94-DEC9-CDCF7E4078F9}"/>
              </a:ext>
            </a:extLst>
          </p:cNvPr>
          <p:cNvSpPr>
            <a:spLocks noGrp="1"/>
          </p:cNvSpPr>
          <p:nvPr>
            <p:ph type="title"/>
          </p:nvPr>
        </p:nvSpPr>
        <p:spPr/>
        <p:txBody>
          <a:bodyPr/>
          <a:lstStyle/>
          <a:p>
            <a:r>
              <a:rPr lang="en-US" dirty="0"/>
              <a:t>Cosine Similarity and distance using NumPy</a:t>
            </a:r>
          </a:p>
        </p:txBody>
      </p:sp>
      <p:pic>
        <p:nvPicPr>
          <p:cNvPr id="5" name="Picture 4" descr="A black background with text&#10;&#10;AI-generated content may be incorrect.">
            <a:extLst>
              <a:ext uri="{FF2B5EF4-FFF2-40B4-BE49-F238E27FC236}">
                <a16:creationId xmlns:a16="http://schemas.microsoft.com/office/drawing/2014/main" id="{43980EE0-4624-1566-0232-9481046C64AF}"/>
              </a:ext>
            </a:extLst>
          </p:cNvPr>
          <p:cNvPicPr>
            <a:picLocks noChangeAspect="1"/>
          </p:cNvPicPr>
          <p:nvPr/>
        </p:nvPicPr>
        <p:blipFill>
          <a:blip r:embed="rId2"/>
          <a:stretch>
            <a:fillRect/>
          </a:stretch>
        </p:blipFill>
        <p:spPr>
          <a:xfrm>
            <a:off x="415600" y="1697223"/>
            <a:ext cx="7772400" cy="1111700"/>
          </a:xfrm>
          <a:prstGeom prst="rect">
            <a:avLst/>
          </a:prstGeom>
        </p:spPr>
      </p:pic>
    </p:spTree>
    <p:extLst>
      <p:ext uri="{BB962C8B-B14F-4D97-AF65-F5344CB8AC3E}">
        <p14:creationId xmlns:p14="http://schemas.microsoft.com/office/powerpoint/2010/main" val="2936361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fc9075a8-7a25-42d6-8e22-dc38709f7eab"/>
  <p:tag name="SLIDO_EVENT_UUID" val="b410549e-4832-454c-abca-5e2be43ea767"/>
  <p:tag name="SLIDO_EVENT_SECTION_UUID" val="6655185d-7604-438e-8733-4c615ddcf6c2"/>
</p:tagLst>
</file>

<file path=ppt/tags/tag2.xml><?xml version="1.0" encoding="utf-8"?>
<p:tagLst xmlns:a="http://schemas.openxmlformats.org/drawingml/2006/main" xmlns:r="http://schemas.openxmlformats.org/officeDocument/2006/relationships" xmlns:p="http://schemas.openxmlformats.org/presentationml/2006/main">
  <p:tag name="SLIDO_TYPE" val="SlidoPoll"/>
  <p:tag name="SLIDO_POLL_UUID" val="9c8e9c19-f917-4a14-ac7f-7511b53f8682"/>
  <p:tag name="SLIDO_TIMELINE" val="W3sic2hvd0NvcnJlY3RBbnN3ZXJzIjpmYWxzZSwicG9sbFF1ZXN0aW9uVXVpZCI6ImViYmIwNzEyLWUyMzYtNDQzMi1iNGNmLTAzMDgxYTM3NWZkNyIsInNob3dSZXN1bHRzIjpmYWxzZX0seyJzaG93Q29ycmVjdEFuc3dlcnMiOnRydWUsInBvbGxRdWVzdGlvblV1aWQiOiJlYmJiMDcxMi1lMjM2LTQ0MzItYjRjZi0wMzA4MWEzNzVmZDciLCJzaG93UmVzdWx0cyI6dHJ1ZX1d"/>
</p:tagLst>
</file>

<file path=ppt/tags/tag3.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4.xml><?xml version="1.0" encoding="utf-8"?>
<p:tagLst xmlns:a="http://schemas.openxmlformats.org/drawingml/2006/main" xmlns:r="http://schemas.openxmlformats.org/officeDocument/2006/relationships" xmlns:p="http://schemas.openxmlformats.org/presentationml/2006/main">
  <p:tag name="SLIDO_ELEMENT" val="title"/>
</p:tagLst>
</file>

<file path=ppt/tags/tag5.xml><?xml version="1.0" encoding="utf-8"?>
<p:tagLst xmlns:a="http://schemas.openxmlformats.org/drawingml/2006/main" xmlns:r="http://schemas.openxmlformats.org/officeDocument/2006/relationships" xmlns:p="http://schemas.openxmlformats.org/presentationml/2006/main">
  <p:tag name="SLIDO_TYPE" val="SlidoPoll"/>
  <p:tag name="SLIDO_POLL_UUID" val="4ebddadd-31ab-439c-b876-d17dfae694dc"/>
  <p:tag name="SLIDO_TIMELINE" val="W3sicG9sbFF1ZXN0aW9uVXVpZCI6ImQ1ZGI0MTgzLTJkOTktNDA1Ni04MDhjLTU4ZTU5MTRkYjQyNyIsInNob3dSZXN1bHRzIjpmYWxzZSwic2hvd0NvcnJlY3RBbnN3ZXJzIjpmYWxzZX0seyJwb2xsUXVlc3Rpb25VdWlkIjoiZDVkYjQxODMtMmQ5OS00MDU2LTgwOGMtNThlNTkxNGRiNDI3Iiwic2hvd1Jlc3VsdHMiOnRydWUsInNob3dDb3JyZWN0QW5zd2VycyI6dHJ1ZX1d"/>
</p:tagLst>
</file>

<file path=ppt/tags/tag6.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7.xml><?xml version="1.0" encoding="utf-8"?>
<p:tagLst xmlns:a="http://schemas.openxmlformats.org/drawingml/2006/main" xmlns:r="http://schemas.openxmlformats.org/officeDocument/2006/relationships" xmlns:p="http://schemas.openxmlformats.org/presentationml/2006/main">
  <p:tag name="SLIDO_ELEMENT" val="title"/>
</p:tagLst>
</file>

<file path=ppt/tags/tag8.xml><?xml version="1.0" encoding="utf-8"?>
<p:tagLst xmlns:a="http://schemas.openxmlformats.org/drawingml/2006/main" xmlns:r="http://schemas.openxmlformats.org/officeDocument/2006/relationships" xmlns:p="http://schemas.openxmlformats.org/presentationml/2006/main">
  <p:tag name="SLIDO_TYPE" val="SlidoPoll"/>
  <p:tag name="SLIDO_POLL_UUID" val="e395ea99-1add-4e68-9560-45ddf14fbefb"/>
  <p:tag name="SLIDO_TIMELINE" val="W3sic2hvd0NvcnJlY3RBbnN3ZXJzIjpmYWxzZSwic2hvd1Jlc3VsdHMiOmZhbHNlLCJwb2xsUXVlc3Rpb25VdWlkIjoiNDg3YjY3NjItNmY4MC00OTJhLTg3NGMtNjM2ZDJhNTFiZDllIn0seyJzaG93Q29ycmVjdEFuc3dlcnMiOnRydWUsInNob3dSZXN1bHRzIjp0cnVlLCJwb2xsUXVlc3Rpb25VdWlkIjoiNDg3YjY3NjItNmY4MC00OTJhLTg3NGMtNjM2ZDJhNTFiZDllIn1d"/>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TYPE" val="SlidoPoll"/>
  <p:tag name="SLIDO_POLL_UUID" val="e323117d-ff42-4e09-a052-f5f7dfa6a768"/>
  <p:tag name="SLIDO_TIMELINE" val="W3sic2hvd1Jlc3VsdHMiOmZhbHNlLCJzaG93Q29ycmVjdEFuc3dlcnMiOmZhbHNlLCJwb2xsUXVlc3Rpb25VdWlkIjoiZTJmYjFmYTktNzViYi00ZGFmLWIyYmQtOGZlMGQ5OTI3NjNkIn0seyJzaG93Q29ycmVjdEFuc3dlcnMiOnRydWUsInNob3dSZXN1bHRzIjp0cnVlLCJwb2xsUXVlc3Rpb25VdWlkIjoiZTJmYjFmYTktNzViYi00ZGFmLWIyYmQtOGZlMGQ5OTI3NjNkIn1d"/>
</p:tagLst>
</file>

<file path=ppt/tags/tag12.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3.xml><?xml version="1.0" encoding="utf-8"?>
<p:tagLst xmlns:a="http://schemas.openxmlformats.org/drawingml/2006/main" xmlns:r="http://schemas.openxmlformats.org/officeDocument/2006/relationships" xmlns:p="http://schemas.openxmlformats.org/presentationml/2006/main">
  <p:tag name="SLIDO_ELEMENT" val="title"/>
</p:tagLst>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CS 506 Sp26 Lab 1 - IntroGit</Template>
  <TotalTime>1496</TotalTime>
  <Words>1736</Words>
  <Application>Microsoft Macintosh PowerPoint</Application>
  <PresentationFormat>Widescreen</PresentationFormat>
  <Paragraphs>334</Paragraphs>
  <Slides>37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Cambria Math</vt:lpstr>
      <vt:lpstr>Open Sans</vt:lpstr>
      <vt:lpstr>PT Sans Narrow</vt:lpstr>
      <vt:lpstr>Wingdings</vt:lpstr>
      <vt:lpstr>Tropic</vt:lpstr>
      <vt:lpstr>Lab 2 – Intro to DS, Distance &amp; Similarity</vt:lpstr>
      <vt:lpstr>About me</vt:lpstr>
      <vt:lpstr>Lab grading</vt:lpstr>
      <vt:lpstr>Learning Objectives</vt:lpstr>
      <vt:lpstr>Data</vt:lpstr>
      <vt:lpstr>Data (cont.)</vt:lpstr>
      <vt:lpstr>Data (cont.)</vt:lpstr>
      <vt:lpstr>Other types of data</vt:lpstr>
      <vt:lpstr>How can we represent vectors and matrices when programming?</vt:lpstr>
      <vt:lpstr>Recall: Learning</vt:lpstr>
      <vt:lpstr>Clustering</vt:lpstr>
      <vt:lpstr>Dissimilarity </vt:lpstr>
      <vt:lpstr>Distance Functions</vt:lpstr>
      <vt:lpstr>Minkowski Distance</vt:lpstr>
      <vt:lpstr>Minkowski Distance</vt:lpstr>
      <vt:lpstr>Minkowski Distance using NumPy</vt:lpstr>
      <vt:lpstr>PowerPoint Presentation</vt:lpstr>
      <vt:lpstr>Euclidean Distance</vt:lpstr>
      <vt:lpstr>PowerPoint Presentation</vt:lpstr>
      <vt:lpstr>Manhattan Distance</vt:lpstr>
      <vt:lpstr>Minkowski Distance for p = 1 vs. p = 2</vt:lpstr>
      <vt:lpstr>Varying p </vt:lpstr>
      <vt:lpstr>Similarity</vt:lpstr>
      <vt:lpstr>Jaccard Similarity</vt:lpstr>
      <vt:lpstr>PowerPoint Presentation</vt:lpstr>
      <vt:lpstr>Jaccard Similarity (cont.)</vt:lpstr>
      <vt:lpstr>Jaccard Similarity using NumPy</vt:lpstr>
      <vt:lpstr>Cosine Similarity </vt:lpstr>
      <vt:lpstr>Cosine Similarity </vt:lpstr>
      <vt:lpstr>Cosine Similarity </vt:lpstr>
      <vt:lpstr>Cosine Similarity </vt:lpstr>
      <vt:lpstr>Cosine Similarity </vt:lpstr>
      <vt:lpstr>Cosine Similarity </vt:lpstr>
      <vt:lpstr>Cosine Similarity </vt:lpstr>
      <vt:lpstr>PowerPoint Presentation</vt:lpstr>
      <vt:lpstr>What is the cosine and Euclidean distance between the following vectors?</vt:lpstr>
      <vt:lpstr>Cosine Similarity and distance using NumPy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Gattupalli, Eeshwar</dc:creator>
  <cp:lastModifiedBy>Gattupalli, Eeshwar</cp:lastModifiedBy>
  <cp:revision>5</cp:revision>
  <dcterms:created xsi:type="dcterms:W3CDTF">2026-01-19T14:38:35Z</dcterms:created>
  <dcterms:modified xsi:type="dcterms:W3CDTF">2026-02-02T20:56:43Z</dcterms:modified>
</cp:coreProperties>
</file>